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0" r:id="rId4"/>
    <p:sldMasterId id="2147483677" r:id="rId5"/>
  </p:sldMasterIdLst>
  <p:notesMasterIdLst>
    <p:notesMasterId r:id="rId7"/>
  </p:notesMasterIdLst>
  <p:handoutMasterIdLst>
    <p:handoutMasterId r:id="rId8"/>
  </p:handoutMasterIdLst>
  <p:sldIdLst>
    <p:sldId id="2147477004" r:id="rId6"/>
  </p:sldIdLst>
  <p:sldSz cx="12192000" cy="6858000"/>
  <p:notesSz cx="6797675" cy="9928225"/>
  <p:custDataLst>
    <p:tags r:id="rId9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choch Cyril" initials="SC" lastIdx="1" clrIdx="0">
    <p:extLst>
      <p:ext uri="{19B8F6BF-5375-455C-9EA6-DF929625EA0E}">
        <p15:presenceInfo xmlns:p15="http://schemas.microsoft.com/office/powerpoint/2012/main" userId="S-1-5-21-2908198854-538845383-240637774-137318" providerId="AD"/>
      </p:ext>
    </p:extLst>
  </p:cmAuthor>
  <p:cmAuthor id="2" name="Meier Raphaela" initials="MR" lastIdx="1" clrIdx="1">
    <p:extLst>
      <p:ext uri="{19B8F6BF-5375-455C-9EA6-DF929625EA0E}">
        <p15:presenceInfo xmlns:p15="http://schemas.microsoft.com/office/powerpoint/2012/main" userId="S-1-5-21-2908198854-538845383-240637774-4392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A4BC39"/>
    <a:srgbClr val="E0E7CE"/>
    <a:srgbClr val="EADDCE"/>
    <a:srgbClr val="B4D7A0"/>
    <a:srgbClr val="C7DFB0"/>
    <a:srgbClr val="78DEC8"/>
    <a:srgbClr val="FFFFFF"/>
    <a:srgbClr val="F6F6F6"/>
    <a:srgbClr val="764C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Mittlere Formatvorlage 4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ittlere Formatvorlag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ittlere Formatvorlage 3 - Akz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344D84-9AFB-497E-A393-DC336BA19D2E}" styleName="Mittlere Formatvorlage 3 - Akz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725" autoAdjust="0"/>
    <p:restoredTop sz="94930" autoAdjust="0"/>
  </p:normalViewPr>
  <p:slideViewPr>
    <p:cSldViewPr snapToGrid="0" showGuides="1">
      <p:cViewPr varScale="1">
        <p:scale>
          <a:sx n="103" d="100"/>
          <a:sy n="103" d="100"/>
        </p:scale>
        <p:origin x="1386" y="31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121" d="100"/>
          <a:sy n="121" d="100"/>
        </p:scale>
        <p:origin x="4938" y="11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handoutMaster" Target="handoutMasters/handoutMaster1.xml"/><Relationship Id="rId9" Type="http://schemas.openxmlformats.org/officeDocument/2006/relationships/tags" Target="tags/tag1.xml"/><Relationship Id="rId10" Type="http://schemas.openxmlformats.org/officeDocument/2006/relationships/commentAuthors" Target="commentAuthors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30CDAE72-F0F0-4DC9-925C-E19F3E161AF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5659" cy="498135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5356412-D955-4B83-B685-59CE6C80C24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4" y="1"/>
            <a:ext cx="2945659" cy="498135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r">
              <a:defRPr sz="1200"/>
            </a:lvl1pPr>
          </a:lstStyle>
          <a:p>
            <a:fld id="{7ADD5588-BCF2-40FE-8A3B-36E9EAD3703B}" type="datetimeFigureOut">
              <a:rPr lang="de-DE" smtClean="0"/>
              <a:t>15.03.2026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914B5D4-180D-4D92-A143-2DBE61B26F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430091"/>
            <a:ext cx="2945659" cy="498134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E56B384-0597-428E-A706-1327F1A9C12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4" y="9430091"/>
            <a:ext cx="2945659" cy="498134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r">
              <a:defRPr sz="1200"/>
            </a:lvl1pPr>
          </a:lstStyle>
          <a:p>
            <a:fld id="{BA61501E-CE83-4C54-93BC-1BE55A189F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37358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5659" cy="498135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50444" y="1"/>
            <a:ext cx="2945659" cy="498135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r">
              <a:defRPr sz="1200"/>
            </a:lvl1pPr>
          </a:lstStyle>
          <a:p>
            <a:fld id="{2D0F67DE-56A6-4A8F-ACF6-9B5458C10BEE}" type="datetimeFigureOut">
              <a:rPr lang="de-DE" smtClean="0"/>
              <a:t>15.03.2026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3" tIns="45717" rIns="91433" bIns="45717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768" y="4777959"/>
            <a:ext cx="5438140" cy="3909239"/>
          </a:xfrm>
          <a:prstGeom prst="rect">
            <a:avLst/>
          </a:prstGeom>
        </p:spPr>
        <p:txBody>
          <a:bodyPr vert="horz" lIns="91433" tIns="45717" rIns="91433" bIns="45717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1" y="9430091"/>
            <a:ext cx="2945659" cy="498134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50444" y="9430091"/>
            <a:ext cx="2945659" cy="498134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r">
              <a:defRPr sz="1200"/>
            </a:lvl1pPr>
          </a:lstStyle>
          <a:p>
            <a:fld id="{54A77E11-AC66-43BB-AF26-A8DD5D660EB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68040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A77E11-AC66-43BB-AF26-A8DD5D660EB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672458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microsoft.com/office/2007/relationships/hdphoto" Target="../media/hdphoto1.wdp"/><Relationship Id="rId4" Type="http://schemas.microsoft.com/office/2007/relationships/hdphoto" Target="../media/hdphoto2.wdp"/><Relationship Id="rId5" Type="http://schemas.openxmlformats.org/officeDocument/2006/relationships/image" Target="../media/image16.png"/><Relationship Id="rId6" Type="http://schemas.microsoft.com/office/2007/relationships/hdphoto" Target="../media/hdphoto3.wdp"/><Relationship Id="rId7" Type="http://schemas.microsoft.com/office/2007/relationships/hdphoto" Target="../media/hdphoto4.wdp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microsoft.com/office/2007/relationships/hdphoto" Target="../media/hdphoto1.wdp"/><Relationship Id="rId4" Type="http://schemas.microsoft.com/office/2007/relationships/hdphoto" Target="../media/hdphoto2.wdp"/><Relationship Id="rId5" Type="http://schemas.openxmlformats.org/officeDocument/2006/relationships/image" Target="../media/image16.png"/><Relationship Id="rId6" Type="http://schemas.microsoft.com/office/2007/relationships/hdphoto" Target="../media/hdphoto3.wdp"/><Relationship Id="rId7" Type="http://schemas.microsoft.com/office/2007/relationships/hdphoto" Target="../media/hdphoto4.wdp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4124735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28FE132-736F-6AED-41D8-50D86B3954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991544" y="1412776"/>
            <a:ext cx="1080120" cy="792088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5B0B2A-4909-CE38-0248-A7169AA4DD1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0336" y="1398617"/>
            <a:ext cx="914400" cy="138231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immer  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Manchmal </a:t>
            </a:r>
            <a:br>
              <a:rPr lang="de-DE" dirty="0"/>
            </a:br>
            <a:r>
              <a:rPr lang="de-DE" dirty="0"/>
              <a:t>- Selten </a:t>
            </a:r>
            <a:br>
              <a:rPr lang="de-DE" dirty="0"/>
            </a:br>
            <a:r>
              <a:rPr lang="de-DE" dirty="0"/>
              <a:t>- Fast nie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338EB78-F02B-6719-2DE8-47F6E5924FA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991544" y="3645025"/>
            <a:ext cx="1080119" cy="1700762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3A0EE85-D62C-5501-D6B1-B1389A7979C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20336" y="3645025"/>
            <a:ext cx="914400" cy="208823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nie </a:t>
            </a:r>
            <a:br>
              <a:rPr lang="de-DE" dirty="0"/>
            </a:br>
            <a:r>
              <a:rPr lang="de-DE" dirty="0"/>
              <a:t>- Selten</a:t>
            </a:r>
            <a:br>
              <a:rPr lang="de-DE" dirty="0"/>
            </a:br>
            <a:r>
              <a:rPr lang="de-DE" dirty="0"/>
              <a:t>- Manchmal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Fast immer</a:t>
            </a:r>
          </a:p>
        </p:txBody>
      </p:sp>
    </p:spTree>
    <p:extLst>
      <p:ext uri="{BB962C8B-B14F-4D97-AF65-F5344CB8AC3E}">
        <p14:creationId xmlns:p14="http://schemas.microsoft.com/office/powerpoint/2010/main" val="37341816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28FE132-736F-6AED-41D8-50D86B3954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991544" y="1412776"/>
            <a:ext cx="1080120" cy="792088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5B0B2A-4909-CE38-0248-A7169AA4DD1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0336" y="1398617"/>
            <a:ext cx="914400" cy="138231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immer  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Manchmal </a:t>
            </a:r>
            <a:br>
              <a:rPr lang="de-DE" dirty="0"/>
            </a:br>
            <a:r>
              <a:rPr lang="de-DE" dirty="0"/>
              <a:t>- Selten </a:t>
            </a:r>
            <a:br>
              <a:rPr lang="de-DE" dirty="0"/>
            </a:br>
            <a:r>
              <a:rPr lang="de-DE" dirty="0"/>
              <a:t>- Fast nie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338EB78-F02B-6719-2DE8-47F6E5924FA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991544" y="3645025"/>
            <a:ext cx="1080119" cy="1700762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3A0EE85-D62C-5501-D6B1-B1389A7979C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20336" y="3645025"/>
            <a:ext cx="914400" cy="208823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nie </a:t>
            </a:r>
            <a:br>
              <a:rPr lang="de-DE" dirty="0"/>
            </a:br>
            <a:r>
              <a:rPr lang="de-DE" dirty="0"/>
              <a:t>- Selten</a:t>
            </a:r>
            <a:br>
              <a:rPr lang="de-DE" dirty="0"/>
            </a:br>
            <a:r>
              <a:rPr lang="de-DE" dirty="0"/>
              <a:t>- Manchmal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Fast immer</a:t>
            </a:r>
          </a:p>
        </p:txBody>
      </p:sp>
    </p:spTree>
    <p:extLst>
      <p:ext uri="{BB962C8B-B14F-4D97-AF65-F5344CB8AC3E}">
        <p14:creationId xmlns:p14="http://schemas.microsoft.com/office/powerpoint/2010/main" val="17774754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28FE132-736F-6AED-41D8-50D86B3954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991544" y="1268760"/>
            <a:ext cx="1080120" cy="2232248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50"/>
            </a:lvl1pPr>
          </a:lstStyle>
          <a:p>
            <a:pPr lvl="0"/>
            <a:r>
              <a:rPr lang="de-DE" dirty="0"/>
              <a:t>Fast immer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Oft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Manchmal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Selten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5B0B2A-4909-CE38-0248-A7169AA4DD1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0336" y="1307876"/>
            <a:ext cx="914400" cy="21931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/>
            </a:lvl1pPr>
          </a:lstStyle>
          <a:p>
            <a:pPr lvl="0"/>
            <a:r>
              <a:rPr lang="de-DE" dirty="0"/>
              <a:t>- Fast immer 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Manchmal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Selten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Fast nie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338EB78-F02B-6719-2DE8-47F6E5924FA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991544" y="3789040"/>
            <a:ext cx="1080119" cy="2448272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50"/>
            </a:lvl1pPr>
          </a:lstStyle>
          <a:p>
            <a:pPr lvl="0"/>
            <a:r>
              <a:rPr lang="de-DE" dirty="0"/>
              <a:t>Fast nie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Selten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Manchmal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Oft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Fast immer -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3A0EE85-D62C-5501-D6B1-B1389A7979C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20336" y="3770883"/>
            <a:ext cx="914400" cy="2682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/>
            </a:lvl1pPr>
          </a:lstStyle>
          <a:p>
            <a:pPr lvl="0"/>
            <a:r>
              <a:rPr lang="de-DE" dirty="0"/>
              <a:t>- Fast nie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Selten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Manchmal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Fast immer</a:t>
            </a:r>
          </a:p>
        </p:txBody>
      </p:sp>
      <p:pic>
        <p:nvPicPr>
          <p:cNvPr id="2" name="4411c">
            <a:extLst>
              <a:ext uri="{FF2B5EF4-FFF2-40B4-BE49-F238E27FC236}">
                <a16:creationId xmlns:a16="http://schemas.microsoft.com/office/drawing/2014/main" id="{B0268AAA-7A6B-A5CE-917E-8F016D5AC1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40000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1997" r="22315" b="29881"/>
          <a:stretch/>
        </p:blipFill>
        <p:spPr>
          <a:xfrm>
            <a:off x="11589663" y="2262706"/>
            <a:ext cx="3269412" cy="2849298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  <p:pic>
        <p:nvPicPr>
          <p:cNvPr id="4" name="4411c">
            <a:extLst>
              <a:ext uri="{FF2B5EF4-FFF2-40B4-BE49-F238E27FC236}">
                <a16:creationId xmlns:a16="http://schemas.microsoft.com/office/drawing/2014/main" id="{B8EE27DA-474E-6770-6C50-407FF1698EE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1997" r="22315" b="29881"/>
          <a:stretch/>
        </p:blipFill>
        <p:spPr>
          <a:xfrm rot="10800000" flipV="1">
            <a:off x="-2538007" y="1268760"/>
            <a:ext cx="3269412" cy="3628115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  <p:pic>
        <p:nvPicPr>
          <p:cNvPr id="6" name="4411d">
            <a:extLst>
              <a:ext uri="{FF2B5EF4-FFF2-40B4-BE49-F238E27FC236}">
                <a16:creationId xmlns:a16="http://schemas.microsoft.com/office/drawing/2014/main" id="{0104D0A0-49A1-410A-5DC5-D7F171126C4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11500"/>
                    </a14:imgEffect>
                    <a14:imgEffect>
                      <a14:saturation sat="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213" t="4718" r="70802" b="29942"/>
          <a:stretch/>
        </p:blipFill>
        <p:spPr>
          <a:xfrm rot="10800000" flipV="1">
            <a:off x="12504711" y="1324579"/>
            <a:ext cx="1584177" cy="3783221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  <p:pic>
        <p:nvPicPr>
          <p:cNvPr id="8" name="4411d">
            <a:extLst>
              <a:ext uri="{FF2B5EF4-FFF2-40B4-BE49-F238E27FC236}">
                <a16:creationId xmlns:a16="http://schemas.microsoft.com/office/drawing/2014/main" id="{4EED2A4A-B094-419F-5DAB-91016A421FB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11500"/>
                    </a14:imgEffect>
                    <a14:imgEffect>
                      <a14:saturation sat="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213" t="4718" r="70802" b="29942"/>
          <a:stretch/>
        </p:blipFill>
        <p:spPr>
          <a:xfrm>
            <a:off x="-2112912" y="2699964"/>
            <a:ext cx="1584177" cy="2178152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9480346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2" name="AS UL">
            <a:extLst>
              <a:ext uri="{FF2B5EF4-FFF2-40B4-BE49-F238E27FC236}">
                <a16:creationId xmlns:a16="http://schemas.microsoft.com/office/drawing/2014/main" id="{AFB03888-6284-E186-493D-A5687CCFDF4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48237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Maßnahmen</a:t>
            </a:r>
            <a:endParaRPr lang="en-US" sz="14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How will we gain or maintain the positive results from focusing on this left pole? What? Who? By When? Measures? </a:t>
            </a:r>
          </a:p>
        </p:txBody>
      </p:sp>
      <p:sp>
        <p:nvSpPr>
          <p:cNvPr id="3" name="EW LL">
            <a:extLst>
              <a:ext uri="{FF2B5EF4-FFF2-40B4-BE49-F238E27FC236}">
                <a16:creationId xmlns:a16="http://schemas.microsoft.com/office/drawing/2014/main" id="{3EF2D68B-3E09-4488-A2C4-6E4037854D2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61310" y="3601665"/>
            <a:ext cx="2407397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en-US" sz="1400" baseline="300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Measurable indicators (things you can count) that will let you know that you are getting into the downside of this left pole.</a:t>
            </a:r>
          </a:p>
        </p:txBody>
      </p:sp>
      <p:sp>
        <p:nvSpPr>
          <p:cNvPr id="4" name="AS UR">
            <a:extLst>
              <a:ext uri="{FF2B5EF4-FFF2-40B4-BE49-F238E27FC236}">
                <a16:creationId xmlns:a16="http://schemas.microsoft.com/office/drawing/2014/main" id="{376FB548-5542-A43E-3545-B1FD1C31E67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Maßnahmen</a:t>
            </a:r>
            <a:endParaRPr lang="en-US" sz="14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How will we gain or maintain the positive results from focusing on this right pole? What? Who? By When? Measures? </a:t>
            </a:r>
          </a:p>
        </p:txBody>
      </p:sp>
      <p:sp>
        <p:nvSpPr>
          <p:cNvPr id="5" name="EW LR">
            <a:extLst>
              <a:ext uri="{FF2B5EF4-FFF2-40B4-BE49-F238E27FC236}">
                <a16:creationId xmlns:a16="http://schemas.microsoft.com/office/drawing/2014/main" id="{2240B9B6-9FB7-03CA-2F96-DF3D82811A2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3601665"/>
            <a:ext cx="2420471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en-US" sz="1400" baseline="300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Measurable indicators (things you can count) that will let you know that you are getting into the downside of this right pole.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A8CA5EF7-2A76-294C-117A-91596A9FFE3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48236" y="1361357"/>
            <a:ext cx="2587063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35F4FD1-54D5-23D9-ED88-0D74FABB585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61963" y="4305299"/>
            <a:ext cx="2573336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43AF581A-53DC-8680-600F-358F9A97AE7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323388" y="1347940"/>
            <a:ext cx="2587062" cy="2138397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3B8A24D6-5C1C-94CB-3D93-BA56D408064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323294" y="4305298"/>
            <a:ext cx="2587061" cy="203200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687555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2" name="AS UL">
            <a:extLst>
              <a:ext uri="{FF2B5EF4-FFF2-40B4-BE49-F238E27FC236}">
                <a16:creationId xmlns:a16="http://schemas.microsoft.com/office/drawing/2014/main" id="{AFB03888-6284-E186-493D-A5687CCFDF4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48237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Maßnahmen</a:t>
            </a: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Wie können wir positive Ergebnisse erzielen oder aufrechterhalten, wenn wir uns auf den linken Pol konzentrieren? Was? Wer? Bis wann? Maßnahmen? </a:t>
            </a:r>
          </a:p>
        </p:txBody>
      </p:sp>
      <p:sp>
        <p:nvSpPr>
          <p:cNvPr id="3" name="EW LL">
            <a:extLst>
              <a:ext uri="{FF2B5EF4-FFF2-40B4-BE49-F238E27FC236}">
                <a16:creationId xmlns:a16="http://schemas.microsoft.com/office/drawing/2014/main" id="{3EF2D68B-3E09-4488-A2C4-6E4037854D2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61310" y="3601665"/>
            <a:ext cx="2407397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de-DE" sz="1400" baseline="30000" noProof="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Messbare Indikatoren (Dinge, die man zählen kann), die Ihnen zeigen, dass Sie sich dem unteren Ende dieses Pols nähern.</a:t>
            </a:r>
          </a:p>
        </p:txBody>
      </p:sp>
      <p:sp>
        <p:nvSpPr>
          <p:cNvPr id="4" name="AS UR">
            <a:extLst>
              <a:ext uri="{FF2B5EF4-FFF2-40B4-BE49-F238E27FC236}">
                <a16:creationId xmlns:a16="http://schemas.microsoft.com/office/drawing/2014/main" id="{376FB548-5542-A43E-3545-B1FD1C31E67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Maßnahmen</a:t>
            </a: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Wie können wir positive Ergebnisse erzielen oder aufrechterhalten, wenn wir uns auf den rechten Pol konzentrieren? Was? Wer? Bis wann? Maßnahmen? </a:t>
            </a:r>
          </a:p>
        </p:txBody>
      </p:sp>
      <p:sp>
        <p:nvSpPr>
          <p:cNvPr id="5" name="EW LR">
            <a:extLst>
              <a:ext uri="{FF2B5EF4-FFF2-40B4-BE49-F238E27FC236}">
                <a16:creationId xmlns:a16="http://schemas.microsoft.com/office/drawing/2014/main" id="{2240B9B6-9FB7-03CA-2F96-DF3D82811A2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3601665"/>
            <a:ext cx="2420471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de-DE" sz="1400" baseline="30000" noProof="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Messbare Indikatoren (Dinge, die man zählen kann), die Ihnen zeigen, dass Sie sich dem unteren Ende dieses Pols nähern.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A8CA5EF7-2A76-294C-117A-91596A9FFE3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48236" y="1361357"/>
            <a:ext cx="2587063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35F4FD1-54D5-23D9-ED88-0D74FABB585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61963" y="4305299"/>
            <a:ext cx="2573336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43AF581A-53DC-8680-600F-358F9A97AE7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323388" y="1347940"/>
            <a:ext cx="2587062" cy="2138397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3B8A24D6-5C1C-94CB-3D93-BA56D408064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323294" y="4305298"/>
            <a:ext cx="2587061" cy="203200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574914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4758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28FE132-736F-6AED-41D8-50D86B3954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991544" y="1412776"/>
            <a:ext cx="1080120" cy="792088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5B0B2A-4909-CE38-0248-A7169AA4DD1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0336" y="1398617"/>
            <a:ext cx="914400" cy="138231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immer  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Manchmal </a:t>
            </a:r>
            <a:br>
              <a:rPr lang="de-DE" dirty="0"/>
            </a:br>
            <a:r>
              <a:rPr lang="de-DE" dirty="0"/>
              <a:t>- Selten </a:t>
            </a:r>
            <a:br>
              <a:rPr lang="de-DE" dirty="0"/>
            </a:br>
            <a:r>
              <a:rPr lang="de-DE" dirty="0"/>
              <a:t>- Fast nie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338EB78-F02B-6719-2DE8-47F6E5924FA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991544" y="3645025"/>
            <a:ext cx="1080119" cy="1700762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3A0EE85-D62C-5501-D6B1-B1389A7979C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20336" y="3645025"/>
            <a:ext cx="914400" cy="208823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nie </a:t>
            </a:r>
            <a:br>
              <a:rPr lang="de-DE" dirty="0"/>
            </a:br>
            <a:r>
              <a:rPr lang="de-DE" dirty="0"/>
              <a:t>- Selten</a:t>
            </a:r>
            <a:br>
              <a:rPr lang="de-DE" dirty="0"/>
            </a:br>
            <a:r>
              <a:rPr lang="de-DE" dirty="0"/>
              <a:t>- Manchmal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Fast immer</a:t>
            </a:r>
          </a:p>
        </p:txBody>
      </p:sp>
    </p:spTree>
    <p:extLst>
      <p:ext uri="{BB962C8B-B14F-4D97-AF65-F5344CB8AC3E}">
        <p14:creationId xmlns:p14="http://schemas.microsoft.com/office/powerpoint/2010/main" val="16933714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28FE132-736F-6AED-41D8-50D86B3954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991544" y="1412776"/>
            <a:ext cx="1080120" cy="792088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5B0B2A-4909-CE38-0248-A7169AA4DD1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0336" y="1398617"/>
            <a:ext cx="914400" cy="138231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immer  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Manchmal </a:t>
            </a:r>
            <a:br>
              <a:rPr lang="de-DE" dirty="0"/>
            </a:br>
            <a:r>
              <a:rPr lang="de-DE" dirty="0"/>
              <a:t>- Selten </a:t>
            </a:r>
            <a:br>
              <a:rPr lang="de-DE" dirty="0"/>
            </a:br>
            <a:r>
              <a:rPr lang="de-DE" dirty="0"/>
              <a:t>- Fast nie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338EB78-F02B-6719-2DE8-47F6E5924FA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991544" y="3645025"/>
            <a:ext cx="1080119" cy="1700762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3A0EE85-D62C-5501-D6B1-B1389A7979C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20336" y="3645025"/>
            <a:ext cx="914400" cy="208823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nie </a:t>
            </a:r>
            <a:br>
              <a:rPr lang="de-DE" dirty="0"/>
            </a:br>
            <a:r>
              <a:rPr lang="de-DE" dirty="0"/>
              <a:t>- Selten</a:t>
            </a:r>
            <a:br>
              <a:rPr lang="de-DE" dirty="0"/>
            </a:br>
            <a:r>
              <a:rPr lang="de-DE" dirty="0"/>
              <a:t>- Manchmal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Fast immer</a:t>
            </a:r>
          </a:p>
        </p:txBody>
      </p:sp>
    </p:spTree>
    <p:extLst>
      <p:ext uri="{BB962C8B-B14F-4D97-AF65-F5344CB8AC3E}">
        <p14:creationId xmlns:p14="http://schemas.microsoft.com/office/powerpoint/2010/main" val="21888632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28FE132-736F-6AED-41D8-50D86B3954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991544" y="1268760"/>
            <a:ext cx="1080120" cy="2232248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50"/>
            </a:lvl1pPr>
          </a:lstStyle>
          <a:p>
            <a:pPr lvl="0"/>
            <a:r>
              <a:rPr lang="de-DE" dirty="0"/>
              <a:t>Fast immer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Oft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Manchmal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Selten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5B0B2A-4909-CE38-0248-A7169AA4DD1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0336" y="1307876"/>
            <a:ext cx="914400" cy="21931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/>
            </a:lvl1pPr>
          </a:lstStyle>
          <a:p>
            <a:pPr lvl="0"/>
            <a:r>
              <a:rPr lang="de-DE" dirty="0"/>
              <a:t>- Fast immer 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Manchmal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Selten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Fast nie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338EB78-F02B-6719-2DE8-47F6E5924FA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991544" y="3789040"/>
            <a:ext cx="1080119" cy="2448272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50"/>
            </a:lvl1pPr>
          </a:lstStyle>
          <a:p>
            <a:pPr lvl="0"/>
            <a:r>
              <a:rPr lang="de-DE" dirty="0"/>
              <a:t>Fast nie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Selten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Manchmal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Oft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Fast immer -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3A0EE85-D62C-5501-D6B1-B1389A7979C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20336" y="3770883"/>
            <a:ext cx="914400" cy="2682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/>
            </a:lvl1pPr>
          </a:lstStyle>
          <a:p>
            <a:pPr lvl="0"/>
            <a:r>
              <a:rPr lang="de-DE" dirty="0"/>
              <a:t>- Fast nie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Selten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Manchmal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Fast immer</a:t>
            </a:r>
          </a:p>
        </p:txBody>
      </p:sp>
      <p:pic>
        <p:nvPicPr>
          <p:cNvPr id="2" name="4411c">
            <a:extLst>
              <a:ext uri="{FF2B5EF4-FFF2-40B4-BE49-F238E27FC236}">
                <a16:creationId xmlns:a16="http://schemas.microsoft.com/office/drawing/2014/main" id="{B0268AAA-7A6B-A5CE-917E-8F016D5AC1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40000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1997" r="22315" b="29881"/>
          <a:stretch/>
        </p:blipFill>
        <p:spPr>
          <a:xfrm>
            <a:off x="11589663" y="2262706"/>
            <a:ext cx="3269412" cy="2849298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  <p:pic>
        <p:nvPicPr>
          <p:cNvPr id="4" name="4411c">
            <a:extLst>
              <a:ext uri="{FF2B5EF4-FFF2-40B4-BE49-F238E27FC236}">
                <a16:creationId xmlns:a16="http://schemas.microsoft.com/office/drawing/2014/main" id="{B8EE27DA-474E-6770-6C50-407FF1698EE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1997" r="22315" b="29881"/>
          <a:stretch/>
        </p:blipFill>
        <p:spPr>
          <a:xfrm rot="10800000" flipV="1">
            <a:off x="-2538007" y="1268760"/>
            <a:ext cx="3269412" cy="3628115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  <p:pic>
        <p:nvPicPr>
          <p:cNvPr id="6" name="4411d">
            <a:extLst>
              <a:ext uri="{FF2B5EF4-FFF2-40B4-BE49-F238E27FC236}">
                <a16:creationId xmlns:a16="http://schemas.microsoft.com/office/drawing/2014/main" id="{0104D0A0-49A1-410A-5DC5-D7F171126C4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11500"/>
                    </a14:imgEffect>
                    <a14:imgEffect>
                      <a14:saturation sat="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213" t="4718" r="70802" b="29942"/>
          <a:stretch/>
        </p:blipFill>
        <p:spPr>
          <a:xfrm rot="10800000" flipV="1">
            <a:off x="12504711" y="1324579"/>
            <a:ext cx="1584177" cy="3783221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  <p:pic>
        <p:nvPicPr>
          <p:cNvPr id="8" name="4411d">
            <a:extLst>
              <a:ext uri="{FF2B5EF4-FFF2-40B4-BE49-F238E27FC236}">
                <a16:creationId xmlns:a16="http://schemas.microsoft.com/office/drawing/2014/main" id="{4EED2A4A-B094-419F-5DAB-91016A421FB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11500"/>
                    </a14:imgEffect>
                    <a14:imgEffect>
                      <a14:saturation sat="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213" t="4718" r="70802" b="29942"/>
          <a:stretch/>
        </p:blipFill>
        <p:spPr>
          <a:xfrm>
            <a:off x="-2112912" y="2699964"/>
            <a:ext cx="1584177" cy="2178152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437318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2" name="AS UL">
            <a:extLst>
              <a:ext uri="{FF2B5EF4-FFF2-40B4-BE49-F238E27FC236}">
                <a16:creationId xmlns:a16="http://schemas.microsoft.com/office/drawing/2014/main" id="{AFB03888-6284-E186-493D-A5687CCFDF4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48237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Maßnahmen</a:t>
            </a:r>
            <a:endParaRPr lang="en-US" sz="14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How will we gain or maintain the positive results from focusing on this left pole? What? Who? By When? Measures? </a:t>
            </a:r>
          </a:p>
        </p:txBody>
      </p:sp>
      <p:sp>
        <p:nvSpPr>
          <p:cNvPr id="3" name="EW LL">
            <a:extLst>
              <a:ext uri="{FF2B5EF4-FFF2-40B4-BE49-F238E27FC236}">
                <a16:creationId xmlns:a16="http://schemas.microsoft.com/office/drawing/2014/main" id="{3EF2D68B-3E09-4488-A2C4-6E4037854D2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61310" y="3601665"/>
            <a:ext cx="2407397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en-US" sz="1400" baseline="300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Measurable indicators (things you can count) that will let you know that you are getting into the downside of this left pole.</a:t>
            </a:r>
          </a:p>
        </p:txBody>
      </p:sp>
      <p:sp>
        <p:nvSpPr>
          <p:cNvPr id="4" name="AS UR">
            <a:extLst>
              <a:ext uri="{FF2B5EF4-FFF2-40B4-BE49-F238E27FC236}">
                <a16:creationId xmlns:a16="http://schemas.microsoft.com/office/drawing/2014/main" id="{376FB548-5542-A43E-3545-B1FD1C31E67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Maßnahmen</a:t>
            </a:r>
            <a:endParaRPr lang="en-US" sz="14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How will we gain or maintain the positive results from focusing on this right pole? What? Who? By When? Measures? </a:t>
            </a:r>
          </a:p>
        </p:txBody>
      </p:sp>
      <p:sp>
        <p:nvSpPr>
          <p:cNvPr id="5" name="EW LR">
            <a:extLst>
              <a:ext uri="{FF2B5EF4-FFF2-40B4-BE49-F238E27FC236}">
                <a16:creationId xmlns:a16="http://schemas.microsoft.com/office/drawing/2014/main" id="{2240B9B6-9FB7-03CA-2F96-DF3D82811A2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3601665"/>
            <a:ext cx="2420471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en-US" sz="1400" baseline="300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Measurable indicators (things you can count) that will let you know that you are getting into the downside of this right pole.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A8CA5EF7-2A76-294C-117A-91596A9FFE3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48236" y="1361357"/>
            <a:ext cx="2587063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35F4FD1-54D5-23D9-ED88-0D74FABB585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61963" y="4305299"/>
            <a:ext cx="2573336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43AF581A-53DC-8680-600F-358F9A97AE7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323388" y="1347940"/>
            <a:ext cx="2587062" cy="2138397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3B8A24D6-5C1C-94CB-3D93-BA56D408064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323294" y="4305298"/>
            <a:ext cx="2587061" cy="203200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86026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2" name="AS UL">
            <a:extLst>
              <a:ext uri="{FF2B5EF4-FFF2-40B4-BE49-F238E27FC236}">
                <a16:creationId xmlns:a16="http://schemas.microsoft.com/office/drawing/2014/main" id="{AFB03888-6284-E186-493D-A5687CCFDF4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48237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Maßnahmen</a:t>
            </a: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Wie können wir positive Ergebnisse erzielen oder aufrechterhalten, wenn wir uns auf den linken Pol konzentrieren? Was? Wer? Bis wann? Maßnahmen? </a:t>
            </a:r>
          </a:p>
        </p:txBody>
      </p:sp>
      <p:sp>
        <p:nvSpPr>
          <p:cNvPr id="3" name="EW LL">
            <a:extLst>
              <a:ext uri="{FF2B5EF4-FFF2-40B4-BE49-F238E27FC236}">
                <a16:creationId xmlns:a16="http://schemas.microsoft.com/office/drawing/2014/main" id="{3EF2D68B-3E09-4488-A2C4-6E4037854D2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61310" y="3601665"/>
            <a:ext cx="2407397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de-DE" sz="1400" baseline="30000" noProof="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Messbare Indikatoren (Dinge, die man zählen kann), die Ihnen zeigen, dass Sie sich dem unteren Ende dieses Pols nähern.</a:t>
            </a:r>
          </a:p>
        </p:txBody>
      </p:sp>
      <p:sp>
        <p:nvSpPr>
          <p:cNvPr id="4" name="AS UR">
            <a:extLst>
              <a:ext uri="{FF2B5EF4-FFF2-40B4-BE49-F238E27FC236}">
                <a16:creationId xmlns:a16="http://schemas.microsoft.com/office/drawing/2014/main" id="{376FB548-5542-A43E-3545-B1FD1C31E67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Maßnahmen</a:t>
            </a: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Wie können wir positive Ergebnisse erzielen oder aufrechterhalten, wenn wir uns auf den rechten Pol konzentrieren? Was? Wer? Bis wann? Maßnahmen? </a:t>
            </a:r>
          </a:p>
        </p:txBody>
      </p:sp>
      <p:sp>
        <p:nvSpPr>
          <p:cNvPr id="5" name="EW LR">
            <a:extLst>
              <a:ext uri="{FF2B5EF4-FFF2-40B4-BE49-F238E27FC236}">
                <a16:creationId xmlns:a16="http://schemas.microsoft.com/office/drawing/2014/main" id="{2240B9B6-9FB7-03CA-2F96-DF3D82811A2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3601665"/>
            <a:ext cx="2420471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de-DE" sz="1400" baseline="30000" noProof="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Messbare Indikatoren (Dinge, die man zählen kann), die Ihnen zeigen, dass Sie sich dem unteren Ende dieses Pols nähern.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A8CA5EF7-2A76-294C-117A-91596A9FFE3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48236" y="1361357"/>
            <a:ext cx="2587063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35F4FD1-54D5-23D9-ED88-0D74FABB585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61963" y="4305299"/>
            <a:ext cx="2573336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43AF581A-53DC-8680-600F-358F9A97AE7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323388" y="1347940"/>
            <a:ext cx="2587062" cy="2138397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3B8A24D6-5C1C-94CB-3D93-BA56D408064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323294" y="4305298"/>
            <a:ext cx="2587061" cy="203200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980141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tags" Target="../tags/tag2.xml"/><Relationship Id="rId9" Type="http://schemas.openxmlformats.org/officeDocument/2006/relationships/oleObject" Target="../embeddings/oleObject1.bin"/><Relationship Id="rId10" Type="http://schemas.openxmlformats.org/officeDocument/2006/relationships/image" Target="../media/image1.emf"/><Relationship Id="rId11" Type="http://schemas.openxmlformats.org/officeDocument/2006/relationships/image" Target="../media/image2.emf"/><Relationship Id="rId12" Type="http://schemas.openxmlformats.org/officeDocument/2006/relationships/image" Target="../media/image3.emf"/><Relationship Id="rId13" Type="http://schemas.openxmlformats.org/officeDocument/2006/relationships/image" Target="../media/image4.emf"/><Relationship Id="rId14" Type="http://schemas.openxmlformats.org/officeDocument/2006/relationships/image" Target="../media/image5.emf"/><Relationship Id="rId15" Type="http://schemas.openxmlformats.org/officeDocument/2006/relationships/image" Target="../media/image6.emf"/><Relationship Id="rId16" Type="http://schemas.openxmlformats.org/officeDocument/2006/relationships/image" Target="../media/image7.emf"/><Relationship Id="rId17" Type="http://schemas.openxmlformats.org/officeDocument/2006/relationships/image" Target="../media/image8.png"/><Relationship Id="rId18" Type="http://schemas.openxmlformats.org/officeDocument/2006/relationships/image" Target="../media/image9.png"/><Relationship Id="rId19" Type="http://schemas.openxmlformats.org/officeDocument/2006/relationships/image" Target="../media/image10.png"/><Relationship Id="rId20" Type="http://schemas.openxmlformats.org/officeDocument/2006/relationships/image" Target="../media/image11.png"/><Relationship Id="rId21" Type="http://schemas.openxmlformats.org/officeDocument/2006/relationships/image" Target="../media/image12.emf"/><Relationship Id="rId22" Type="http://schemas.openxmlformats.org/officeDocument/2006/relationships/image" Target="../media/image13.emf"/><Relationship Id="rId23" Type="http://schemas.openxmlformats.org/officeDocument/2006/relationships/image" Target="../media/image14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2.xml"/><Relationship Id="rId7" Type="http://schemas.openxmlformats.org/officeDocument/2006/relationships/theme" Target="../theme/theme2.xml"/><Relationship Id="rId8" Type="http://schemas.openxmlformats.org/officeDocument/2006/relationships/tags" Target="../tags/tag3.xml"/><Relationship Id="rId9" Type="http://schemas.openxmlformats.org/officeDocument/2006/relationships/oleObject" Target="../embeddings/oleObject1.bin"/><Relationship Id="rId10" Type="http://schemas.openxmlformats.org/officeDocument/2006/relationships/image" Target="../media/image1.emf"/><Relationship Id="rId11" Type="http://schemas.openxmlformats.org/officeDocument/2006/relationships/image" Target="../media/image2.emf"/><Relationship Id="rId12" Type="http://schemas.openxmlformats.org/officeDocument/2006/relationships/image" Target="../media/image3.emf"/><Relationship Id="rId13" Type="http://schemas.openxmlformats.org/officeDocument/2006/relationships/image" Target="../media/image4.emf"/><Relationship Id="rId14" Type="http://schemas.openxmlformats.org/officeDocument/2006/relationships/image" Target="../media/image5.emf"/><Relationship Id="rId15" Type="http://schemas.openxmlformats.org/officeDocument/2006/relationships/image" Target="../media/image6.emf"/><Relationship Id="rId16" Type="http://schemas.openxmlformats.org/officeDocument/2006/relationships/image" Target="../media/image7.emf"/><Relationship Id="rId17" Type="http://schemas.openxmlformats.org/officeDocument/2006/relationships/image" Target="../media/image8.png"/><Relationship Id="rId18" Type="http://schemas.openxmlformats.org/officeDocument/2006/relationships/image" Target="../media/image9.png"/><Relationship Id="rId19" Type="http://schemas.openxmlformats.org/officeDocument/2006/relationships/image" Target="../media/image10.png"/><Relationship Id="rId20" Type="http://schemas.openxmlformats.org/officeDocument/2006/relationships/image" Target="../media/image11.png"/><Relationship Id="rId21" Type="http://schemas.openxmlformats.org/officeDocument/2006/relationships/image" Target="../media/image12.emf"/><Relationship Id="rId22" Type="http://schemas.openxmlformats.org/officeDocument/2006/relationships/image" Target="../media/image13.emf"/><Relationship Id="rId23" Type="http://schemas.openxmlformats.org/officeDocument/2006/relationships/image" Target="../media/image14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B347C187-8FB1-30DF-C6CE-C76667FB19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8"/>
            </p:custDataLst>
            <p:extLst>
              <p:ext uri="{D42A27DB-BD31-4B8C-83A1-F6EECF244321}">
                <p14:modId xmlns:p14="http://schemas.microsoft.com/office/powerpoint/2010/main" val="2895567132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9" imgW="7772400" imgH="10058400" progId="TCLayout.ActiveDocument.1">
                  <p:embed/>
                </p:oleObj>
              </mc:Choice>
              <mc:Fallback>
                <p:oleObj name="think-cell Folie" r:id="rId9" imgW="7772400" imgH="10058400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347C187-8FB1-30DF-C6CE-C76667FB19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9" name="Polarity Map Title">
            <a:extLst>
              <a:ext uri="{FF2B5EF4-FFF2-40B4-BE49-F238E27FC236}">
                <a16:creationId xmlns:a16="http://schemas.microsoft.com/office/drawing/2014/main" id="{8D26DAEB-53A6-4270-6404-29C583B42F6B}"/>
              </a:ext>
            </a:extLst>
          </p:cNvPr>
          <p:cNvGrpSpPr/>
          <p:nvPr userDrawn="1"/>
        </p:nvGrpSpPr>
        <p:grpSpPr>
          <a:xfrm>
            <a:off x="5084943" y="124325"/>
            <a:ext cx="2116991" cy="369332"/>
            <a:chOff x="3813707" y="124325"/>
            <a:chExt cx="1587743" cy="369332"/>
          </a:xfrm>
        </p:grpSpPr>
        <p:sp>
          <p:nvSpPr>
            <p:cNvPr id="10" name="Polarity Map">
              <a:extLst>
                <a:ext uri="{FF2B5EF4-FFF2-40B4-BE49-F238E27FC236}">
                  <a16:creationId xmlns:a16="http://schemas.microsoft.com/office/drawing/2014/main" id="{71712840-1076-032F-20F4-1F9999D90400}"/>
                </a:ext>
              </a:extLst>
            </p:cNvPr>
            <p:cNvSpPr txBox="1"/>
            <p:nvPr userDrawn="1"/>
          </p:nvSpPr>
          <p:spPr>
            <a:xfrm>
              <a:off x="3813707" y="124325"/>
              <a:ext cx="1513410" cy="36933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lvl="0" algn="ctr"/>
              <a:r>
                <a:rPr lang="en-US" sz="2400" b="0" i="0" dirty="0">
                  <a:latin typeface="Arial Narrow" panose="020B0604020202020204" pitchFamily="34" charset="0"/>
                  <a:cs typeface="Arial Narrow" panose="020B0604020202020204" pitchFamily="34" charset="0"/>
                </a:rPr>
                <a:t>Polarity Map</a:t>
              </a:r>
            </a:p>
          </p:txBody>
        </p:sp>
        <p:sp>
          <p:nvSpPr>
            <p:cNvPr id="11" name="®">
              <a:extLst>
                <a:ext uri="{FF2B5EF4-FFF2-40B4-BE49-F238E27FC236}">
                  <a16:creationId xmlns:a16="http://schemas.microsoft.com/office/drawing/2014/main" id="{33DB996D-2865-742C-0294-4E18714BF673}"/>
                </a:ext>
              </a:extLst>
            </p:cNvPr>
            <p:cNvSpPr txBox="1"/>
            <p:nvPr userDrawn="1"/>
          </p:nvSpPr>
          <p:spPr>
            <a:xfrm>
              <a:off x="5254336" y="165345"/>
              <a:ext cx="147114" cy="20565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0" i="0" dirty="0">
                  <a:latin typeface="Arial Narrow" panose="020B0604020202020204" pitchFamily="34" charset="0"/>
                  <a:cs typeface="Arial Narrow" panose="020B0604020202020204" pitchFamily="34" charset="0"/>
                </a:rPr>
                <a:t>®</a:t>
              </a:r>
            </a:p>
            <a:p>
              <a:pPr algn="ctr"/>
              <a:endParaRPr lang="en-US" sz="1000" b="0" i="0" dirty="0">
                <a:latin typeface="Arial Narrow" panose="020B0604020202020204" pitchFamily="34" charset="0"/>
                <a:cs typeface="Arial Narrow" panose="020B0604020202020204" pitchFamily="34" charset="0"/>
              </a:endParaRPr>
            </a:p>
          </p:txBody>
        </p:sp>
      </p:grpSp>
      <p:sp>
        <p:nvSpPr>
          <p:cNvPr id="12" name="Copyright">
            <a:extLst>
              <a:ext uri="{FF2B5EF4-FFF2-40B4-BE49-F238E27FC236}">
                <a16:creationId xmlns:a16="http://schemas.microsoft.com/office/drawing/2014/main" id="{78905AFA-943C-EF23-1AF8-89F62F585F2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946223" y="5913669"/>
            <a:ext cx="2100157" cy="3481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r" defTabSz="914400" rtl="0" eaLnBrk="1" fontAlgn="auto" latinLnBrk="0" hangingPunct="1">
              <a:lnSpc>
                <a:spcPct val="85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00" dirty="0">
                <a:solidFill>
                  <a:srgbClr val="929292"/>
                </a:solidFill>
                <a:latin typeface="Arial Narrow" pitchFamily="24" charset="0"/>
              </a:rPr>
              <a:t>©2020 Barry Johnson and Polarity Partnerships, LLC. All rights reserved.</a:t>
            </a:r>
          </a:p>
          <a:p>
            <a:pPr algn="r">
              <a:lnSpc>
                <a:spcPct val="85000"/>
              </a:lnSpc>
              <a:spcBef>
                <a:spcPct val="0"/>
              </a:spcBef>
            </a:pPr>
            <a:r>
              <a:rPr lang="en-US" sz="700" dirty="0">
                <a:solidFill>
                  <a:srgbClr val="929292"/>
                </a:solidFill>
                <a:latin typeface="Arial Narrow" pitchFamily="24" charset="0"/>
              </a:rPr>
              <a:t>Commercial use encouraged with permission. </a:t>
            </a:r>
          </a:p>
        </p:txBody>
      </p:sp>
      <p:grpSp>
        <p:nvGrpSpPr>
          <p:cNvPr id="13" name="QUADS+GPS+DF (shadow FX)">
            <a:extLst>
              <a:ext uri="{FF2B5EF4-FFF2-40B4-BE49-F238E27FC236}">
                <a16:creationId xmlns:a16="http://schemas.microsoft.com/office/drawing/2014/main" id="{E4C72B2D-1461-9D6A-7CD4-A27503E446E0}"/>
              </a:ext>
            </a:extLst>
          </p:cNvPr>
          <p:cNvGrpSpPr/>
          <p:nvPr userDrawn="1"/>
        </p:nvGrpSpPr>
        <p:grpSpPr>
          <a:xfrm>
            <a:off x="3138467" y="674489"/>
            <a:ext cx="5915068" cy="5507863"/>
            <a:chOff x="2353850" y="674489"/>
            <a:chExt cx="4436301" cy="5507863"/>
          </a:xfr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grpSpPr>
        <p:pic>
          <p:nvPicPr>
            <p:cNvPr id="14" name="UL">
              <a:extLst>
                <a:ext uri="{FF2B5EF4-FFF2-40B4-BE49-F238E27FC236}">
                  <a16:creationId xmlns:a16="http://schemas.microsoft.com/office/drawing/2014/main" id="{3FFF336E-1C94-00E4-D869-0C1D257450B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353850" y="1013198"/>
              <a:ext cx="2224024" cy="2425192"/>
            </a:xfrm>
            <a:prstGeom prst="rect">
              <a:avLst/>
            </a:prstGeom>
          </p:spPr>
        </p:pic>
        <p:pic>
          <p:nvPicPr>
            <p:cNvPr id="15" name="UR">
              <a:extLst>
                <a:ext uri="{FF2B5EF4-FFF2-40B4-BE49-F238E27FC236}">
                  <a16:creationId xmlns:a16="http://schemas.microsoft.com/office/drawing/2014/main" id="{48E0A1E1-BAA3-DD28-C4D6-D8D83F19976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4566127" y="1013198"/>
              <a:ext cx="2224024" cy="2425192"/>
            </a:xfrm>
            <a:prstGeom prst="rect">
              <a:avLst/>
            </a:prstGeom>
          </p:spPr>
        </p:pic>
        <p:pic>
          <p:nvPicPr>
            <p:cNvPr id="16" name="LL">
              <a:extLst>
                <a:ext uri="{FF2B5EF4-FFF2-40B4-BE49-F238E27FC236}">
                  <a16:creationId xmlns:a16="http://schemas.microsoft.com/office/drawing/2014/main" id="{B7E2AC33-E3C1-DE6C-4E0A-4C7CEB428E2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353850" y="3426198"/>
              <a:ext cx="2224024" cy="2425192"/>
            </a:xfrm>
            <a:prstGeom prst="rect">
              <a:avLst/>
            </a:prstGeom>
          </p:spPr>
        </p:pic>
        <p:pic>
          <p:nvPicPr>
            <p:cNvPr id="17" name="LR">
              <a:extLst>
                <a:ext uri="{FF2B5EF4-FFF2-40B4-BE49-F238E27FC236}">
                  <a16:creationId xmlns:a16="http://schemas.microsoft.com/office/drawing/2014/main" id="{9A36D368-5C8C-75E2-0F92-5722C51A32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566127" y="3426198"/>
              <a:ext cx="2224024" cy="2425192"/>
            </a:xfrm>
            <a:prstGeom prst="rect">
              <a:avLst/>
            </a:prstGeom>
          </p:spPr>
        </p:pic>
        <p:pic>
          <p:nvPicPr>
            <p:cNvPr id="18" name="GPS">
              <a:extLst>
                <a:ext uri="{FF2B5EF4-FFF2-40B4-BE49-F238E27FC236}">
                  <a16:creationId xmlns:a16="http://schemas.microsoft.com/office/drawing/2014/main" id="{9C6B6AFA-BE92-71E9-3970-EF3E48FA5A0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932143" y="674489"/>
              <a:ext cx="1285240" cy="681736"/>
            </a:xfrm>
            <a:prstGeom prst="rect">
              <a:avLst/>
            </a:prstGeom>
          </p:spPr>
        </p:pic>
        <p:pic>
          <p:nvPicPr>
            <p:cNvPr id="19" name="DF">
              <a:extLst>
                <a:ext uri="{FF2B5EF4-FFF2-40B4-BE49-F238E27FC236}">
                  <a16:creationId xmlns:a16="http://schemas.microsoft.com/office/drawing/2014/main" id="{DB202411-6B4E-F8D3-6DF0-56B931BA05AF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932143" y="5500616"/>
              <a:ext cx="1285240" cy="681736"/>
            </a:xfrm>
            <a:prstGeom prst="rect">
              <a:avLst/>
            </a:prstGeom>
          </p:spPr>
        </p:pic>
      </p:grpSp>
      <p:sp>
        <p:nvSpPr>
          <p:cNvPr id="20" name="UL">
            <a:extLst>
              <a:ext uri="{FF2B5EF4-FFF2-40B4-BE49-F238E27FC236}">
                <a16:creationId xmlns:a16="http://schemas.microsoft.com/office/drawing/2014/main" id="{E106D8E0-3803-68BE-EEED-DB058492713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81939" y="1071562"/>
            <a:ext cx="2060919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Positive Effekte/Vorteile, wenn wir uns auf den linken Pol fokussieren</a:t>
            </a:r>
          </a:p>
        </p:txBody>
      </p:sp>
      <p:sp>
        <p:nvSpPr>
          <p:cNvPr id="24" name="TEXT GPS reminder">
            <a:extLst>
              <a:ext uri="{FF2B5EF4-FFF2-40B4-BE49-F238E27FC236}">
                <a16:creationId xmlns:a16="http://schemas.microsoft.com/office/drawing/2014/main" id="{1ACC7354-0393-6F69-BCB7-E54036A2430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77358" y="774716"/>
            <a:ext cx="1921276" cy="2722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l">
              <a:lnSpc>
                <a:spcPct val="85000"/>
              </a:lnSpc>
              <a:spcBef>
                <a:spcPct val="0"/>
              </a:spcBef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Übergeordnetes Ziel: Angenommen, wir integrieren beide Pole ideal? </a:t>
            </a:r>
            <a:endParaRPr lang="de-DE" sz="900" noProof="0" dirty="0">
              <a:solidFill>
                <a:srgbClr val="7F7F7F"/>
              </a:solidFill>
              <a:latin typeface="Arial Narrow" pitchFamily="24" charset="0"/>
            </a:endParaRPr>
          </a:p>
        </p:txBody>
      </p:sp>
      <p:sp>
        <p:nvSpPr>
          <p:cNvPr id="25" name="TEXT DF reminder">
            <a:extLst>
              <a:ext uri="{FF2B5EF4-FFF2-40B4-BE49-F238E27FC236}">
                <a16:creationId xmlns:a16="http://schemas.microsoft.com/office/drawing/2014/main" id="{C920E0AB-7F08-9835-011A-BA7069646B0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60725" y="5909642"/>
            <a:ext cx="1921276" cy="2722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l">
              <a:lnSpc>
                <a:spcPct val="85000"/>
              </a:lnSpc>
              <a:spcBef>
                <a:spcPct val="0"/>
              </a:spcBef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Schlimmster  Fall: Was passiert, wenn wir die beiden Pole nicht integrieren können? </a:t>
            </a:r>
            <a:endParaRPr lang="de-DE" sz="900" noProof="0" dirty="0">
              <a:solidFill>
                <a:srgbClr val="7F7F7F"/>
              </a:solidFill>
              <a:latin typeface="Arial Narrow" pitchFamily="24" charset="0"/>
            </a:endParaRPr>
          </a:p>
        </p:txBody>
      </p:sp>
      <p:pic>
        <p:nvPicPr>
          <p:cNvPr id="26" name="4411a">
            <a:extLst>
              <a:ext uri="{FF2B5EF4-FFF2-40B4-BE49-F238E27FC236}">
                <a16:creationId xmlns:a16="http://schemas.microsoft.com/office/drawing/2014/main" id="{70977BBE-A35A-6653-5515-6F6B90C7F5CA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27" name="4411b">
            <a:extLst>
              <a:ext uri="{FF2B5EF4-FFF2-40B4-BE49-F238E27FC236}">
                <a16:creationId xmlns:a16="http://schemas.microsoft.com/office/drawing/2014/main" id="{E427DE7A-C120-BD45-69E8-0A93F206AD79}"/>
              </a:ext>
            </a:extLst>
          </p:cNvPr>
          <p:cNvPicPr>
            <a:picLocks noChangeAspect="1"/>
          </p:cNvPicPr>
          <p:nvPr userDrawn="1"/>
        </p:nvPicPr>
        <p:blipFill>
          <a:blip r:embed="rId18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28" name="4411c">
            <a:extLst>
              <a:ext uri="{FF2B5EF4-FFF2-40B4-BE49-F238E27FC236}">
                <a16:creationId xmlns:a16="http://schemas.microsoft.com/office/drawing/2014/main" id="{805253A9-BF3B-AAA9-B800-D65A46B8C0A8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29" name="4411d">
            <a:extLst>
              <a:ext uri="{FF2B5EF4-FFF2-40B4-BE49-F238E27FC236}">
                <a16:creationId xmlns:a16="http://schemas.microsoft.com/office/drawing/2014/main" id="{39421C68-DCAA-F89B-898D-40EE366A62F0}"/>
              </a:ext>
            </a:extLst>
          </p:cNvPr>
          <p:cNvPicPr>
            <a:picLocks noChangeAspect="1"/>
          </p:cNvPicPr>
          <p:nvPr userDrawn="1"/>
        </p:nvPicPr>
        <p:blipFill>
          <a:blip r:embed="rId20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30" name="And">
            <a:extLst>
              <a:ext uri="{FF2B5EF4-FFF2-40B4-BE49-F238E27FC236}">
                <a16:creationId xmlns:a16="http://schemas.microsoft.com/office/drawing/2014/main" id="{0ED42906-4745-1806-7E55-D0D3CE772EE7}"/>
              </a:ext>
            </a:extLst>
          </p:cNvPr>
          <p:cNvPicPr>
            <a:picLocks noChangeAspect="1"/>
          </p:cNvPicPr>
          <p:nvPr userDrawn="1"/>
        </p:nvPicPr>
        <p:blipFill>
          <a:blip r:embed="rId21"/>
          <a:stretch>
            <a:fillRect/>
          </a:stretch>
        </p:blipFill>
        <p:spPr>
          <a:xfrm>
            <a:off x="5790523" y="3305484"/>
            <a:ext cx="610955" cy="245872"/>
          </a:xfrm>
          <a:prstGeom prst="rect">
            <a:avLst/>
          </a:prstGeo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spPr>
      </p:pic>
      <p:sp>
        <p:nvSpPr>
          <p:cNvPr id="31" name="And TEXT">
            <a:extLst>
              <a:ext uri="{FF2B5EF4-FFF2-40B4-BE49-F238E27FC236}">
                <a16:creationId xmlns:a16="http://schemas.microsoft.com/office/drawing/2014/main" id="{3234A801-5C18-1ADC-97F5-459573A7D48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790523" y="3313155"/>
            <a:ext cx="607305" cy="2458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en-US" sz="1500" i="1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</a:t>
            </a:r>
          </a:p>
        </p:txBody>
      </p:sp>
      <p:pic>
        <p:nvPicPr>
          <p:cNvPr id="32" name="LP">
            <a:extLst>
              <a:ext uri="{FF2B5EF4-FFF2-40B4-BE49-F238E27FC236}">
                <a16:creationId xmlns:a16="http://schemas.microsoft.com/office/drawing/2014/main" id="{BFDA94D3-97E0-7F0A-2ACA-2CFB3408FB3D}"/>
              </a:ext>
            </a:extLst>
          </p:cNvPr>
          <p:cNvPicPr>
            <a:picLocks noChangeAspect="1"/>
          </p:cNvPicPr>
          <p:nvPr userDrawn="1"/>
        </p:nvPicPr>
        <p:blipFill>
          <a:blip r:embed="rId22"/>
          <a:stretch>
            <a:fillRect/>
          </a:stretch>
        </p:blipFill>
        <p:spPr>
          <a:xfrm>
            <a:off x="3856398" y="3087552"/>
            <a:ext cx="1713653" cy="681736"/>
          </a:xfrm>
          <a:prstGeom prst="rect">
            <a:avLst/>
          </a:prstGeo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spPr>
      </p:pic>
      <p:pic>
        <p:nvPicPr>
          <p:cNvPr id="33" name="RP">
            <a:extLst>
              <a:ext uri="{FF2B5EF4-FFF2-40B4-BE49-F238E27FC236}">
                <a16:creationId xmlns:a16="http://schemas.microsoft.com/office/drawing/2014/main" id="{C249E82D-34C9-B6E3-E259-289C64F60F32}"/>
              </a:ext>
            </a:extLst>
          </p:cNvPr>
          <p:cNvPicPr>
            <a:picLocks noChangeAspect="1"/>
          </p:cNvPicPr>
          <p:nvPr userDrawn="1"/>
        </p:nvPicPr>
        <p:blipFill>
          <a:blip r:embed="rId23"/>
          <a:stretch>
            <a:fillRect/>
          </a:stretch>
        </p:blipFill>
        <p:spPr>
          <a:xfrm>
            <a:off x="6621950" y="3087552"/>
            <a:ext cx="1713653" cy="681736"/>
          </a:xfrm>
          <a:prstGeom prst="rect">
            <a:avLst/>
          </a:prstGeo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spPr>
      </p:pic>
      <p:sp>
        <p:nvSpPr>
          <p:cNvPr id="46" name="Textplatzhalter 6">
            <a:extLst>
              <a:ext uri="{FF2B5EF4-FFF2-40B4-BE49-F238E27FC236}">
                <a16:creationId xmlns:a16="http://schemas.microsoft.com/office/drawing/2014/main" id="{D88D4C87-4FAE-D68D-8FAD-18832523B922}"/>
              </a:ext>
            </a:extLst>
          </p:cNvPr>
          <p:cNvSpPr txBox="1">
            <a:spLocks/>
          </p:cNvSpPr>
          <p:nvPr userDrawn="1"/>
        </p:nvSpPr>
        <p:spPr>
          <a:xfrm>
            <a:off x="3160712" y="1354137"/>
            <a:ext cx="2762567" cy="1672869"/>
          </a:xfrm>
          <a:prstGeom prst="rect">
            <a:avLst/>
          </a:prstGeom>
        </p:spPr>
        <p:txBody>
          <a:bodyPr>
            <a:noAutofit/>
          </a:bodyPr>
          <a:lstStyle>
            <a:lvl1pPr marL="136525" indent="-13652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+mj-lt"/>
              <a:buAutoNum type="arabicPeriod"/>
              <a:tabLst/>
              <a:defRPr sz="11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dirty="0"/>
          </a:p>
        </p:txBody>
      </p:sp>
      <p:sp>
        <p:nvSpPr>
          <p:cNvPr id="2" name="UL">
            <a:extLst>
              <a:ext uri="{FF2B5EF4-FFF2-40B4-BE49-F238E27FC236}">
                <a16:creationId xmlns:a16="http://schemas.microsoft.com/office/drawing/2014/main" id="{95AC253B-95AC-EE5D-D031-5AB2C048A8E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950607" y="1044964"/>
            <a:ext cx="2060919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Positive Effekte/Vorteile, wenn wir uns auf den rechten Pol fokussieren</a:t>
            </a:r>
          </a:p>
        </p:txBody>
      </p:sp>
      <p:sp>
        <p:nvSpPr>
          <p:cNvPr id="3" name="TEXT GPS reminder">
            <a:extLst>
              <a:ext uri="{FF2B5EF4-FFF2-40B4-BE49-F238E27FC236}">
                <a16:creationId xmlns:a16="http://schemas.microsoft.com/office/drawing/2014/main" id="{35967715-63ED-FC87-AD7F-3B822358C5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16626" y="775414"/>
            <a:ext cx="1921276" cy="2722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r">
              <a:lnSpc>
                <a:spcPct val="85000"/>
              </a:lnSpc>
              <a:spcBef>
                <a:spcPct val="0"/>
              </a:spcBef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Übergeordnetes Ziel: Angenommen, wir integrieren beide Pole ideal? </a:t>
            </a:r>
            <a:endParaRPr lang="de-DE" sz="900" noProof="0" dirty="0">
              <a:solidFill>
                <a:srgbClr val="7F7F7F"/>
              </a:solidFill>
              <a:latin typeface="Arial Narrow" pitchFamily="24" charset="0"/>
            </a:endParaRPr>
          </a:p>
        </p:txBody>
      </p:sp>
      <p:sp>
        <p:nvSpPr>
          <p:cNvPr id="5" name="UL">
            <a:extLst>
              <a:ext uri="{FF2B5EF4-FFF2-40B4-BE49-F238E27FC236}">
                <a16:creationId xmlns:a16="http://schemas.microsoft.com/office/drawing/2014/main" id="{D6996D85-FB10-CD8A-0CB4-4FB6D7BFC68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055210" y="5501745"/>
            <a:ext cx="1962621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Negative Effekte/Nachteile, wenn wir uns übermäßig auf den rechten Pol zu Lasten des linken Pols fokussieren</a:t>
            </a:r>
          </a:p>
        </p:txBody>
      </p:sp>
      <p:sp>
        <p:nvSpPr>
          <p:cNvPr id="6" name="UL">
            <a:extLst>
              <a:ext uri="{FF2B5EF4-FFF2-40B4-BE49-F238E27FC236}">
                <a16:creationId xmlns:a16="http://schemas.microsoft.com/office/drawing/2014/main" id="{91B0B13F-B8BA-EEA3-1195-2FF7130A939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81939" y="5488097"/>
            <a:ext cx="2060919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Negative Effekte/Nachteile, wenn wir uns übermäßig auf den linken Pol zu Lasten des rechten Pols fokussieren</a:t>
            </a:r>
          </a:p>
        </p:txBody>
      </p:sp>
    </p:spTree>
    <p:extLst>
      <p:ext uri="{BB962C8B-B14F-4D97-AF65-F5344CB8AC3E}">
        <p14:creationId xmlns:p14="http://schemas.microsoft.com/office/powerpoint/2010/main" val="27895120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5" r:id="rId3"/>
    <p:sldLayoutId id="2147483673" r:id="rId4"/>
    <p:sldLayoutId id="2147483674" r:id="rId5"/>
    <p:sldLayoutId id="214748367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B347C187-8FB1-30DF-C6CE-C76667FB19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8"/>
            </p:custDataLst>
            <p:extLst>
              <p:ext uri="{D42A27DB-BD31-4B8C-83A1-F6EECF244321}">
                <p14:modId xmlns:p14="http://schemas.microsoft.com/office/powerpoint/2010/main" val="2895567132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9" imgW="7772400" imgH="10058400" progId="TCLayout.ActiveDocument.1">
                  <p:embed/>
                </p:oleObj>
              </mc:Choice>
              <mc:Fallback>
                <p:oleObj name="think-cell Folie" r:id="rId9" imgW="7772400" imgH="10058400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347C187-8FB1-30DF-C6CE-C76667FB19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9" name="Polarity Map Title">
            <a:extLst>
              <a:ext uri="{FF2B5EF4-FFF2-40B4-BE49-F238E27FC236}">
                <a16:creationId xmlns:a16="http://schemas.microsoft.com/office/drawing/2014/main" id="{8D26DAEB-53A6-4270-6404-29C583B42F6B}"/>
              </a:ext>
            </a:extLst>
          </p:cNvPr>
          <p:cNvGrpSpPr/>
          <p:nvPr userDrawn="1"/>
        </p:nvGrpSpPr>
        <p:grpSpPr>
          <a:xfrm>
            <a:off x="5084943" y="124325"/>
            <a:ext cx="2116991" cy="369332"/>
            <a:chOff x="3813707" y="124325"/>
            <a:chExt cx="1587743" cy="369332"/>
          </a:xfrm>
        </p:grpSpPr>
        <p:sp>
          <p:nvSpPr>
            <p:cNvPr id="10" name="Polarity Map">
              <a:extLst>
                <a:ext uri="{FF2B5EF4-FFF2-40B4-BE49-F238E27FC236}">
                  <a16:creationId xmlns:a16="http://schemas.microsoft.com/office/drawing/2014/main" id="{71712840-1076-032F-20F4-1F9999D90400}"/>
                </a:ext>
              </a:extLst>
            </p:cNvPr>
            <p:cNvSpPr txBox="1"/>
            <p:nvPr userDrawn="1"/>
          </p:nvSpPr>
          <p:spPr>
            <a:xfrm>
              <a:off x="3813707" y="124325"/>
              <a:ext cx="1513410" cy="36933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lvl="0" algn="ctr"/>
              <a:r>
                <a:rPr lang="en-US" sz="2400" b="0" i="0" dirty="0">
                  <a:latin typeface="Arial Narrow" panose="020B0604020202020204" pitchFamily="34" charset="0"/>
                  <a:cs typeface="Arial Narrow" panose="020B0604020202020204" pitchFamily="34" charset="0"/>
                </a:rPr>
                <a:t>Polarity Map</a:t>
              </a:r>
            </a:p>
          </p:txBody>
        </p:sp>
        <p:sp>
          <p:nvSpPr>
            <p:cNvPr id="11" name="®">
              <a:extLst>
                <a:ext uri="{FF2B5EF4-FFF2-40B4-BE49-F238E27FC236}">
                  <a16:creationId xmlns:a16="http://schemas.microsoft.com/office/drawing/2014/main" id="{33DB996D-2865-742C-0294-4E18714BF673}"/>
                </a:ext>
              </a:extLst>
            </p:cNvPr>
            <p:cNvSpPr txBox="1"/>
            <p:nvPr userDrawn="1"/>
          </p:nvSpPr>
          <p:spPr>
            <a:xfrm>
              <a:off x="5254336" y="165345"/>
              <a:ext cx="147114" cy="20565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0" i="0" dirty="0">
                  <a:latin typeface="Arial Narrow" panose="020B0604020202020204" pitchFamily="34" charset="0"/>
                  <a:cs typeface="Arial Narrow" panose="020B0604020202020204" pitchFamily="34" charset="0"/>
                </a:rPr>
                <a:t>®</a:t>
              </a:r>
            </a:p>
            <a:p>
              <a:pPr algn="ctr"/>
              <a:endParaRPr lang="en-US" sz="1000" b="0" i="0" dirty="0">
                <a:latin typeface="Arial Narrow" panose="020B0604020202020204" pitchFamily="34" charset="0"/>
                <a:cs typeface="Arial Narrow" panose="020B0604020202020204" pitchFamily="34" charset="0"/>
              </a:endParaRPr>
            </a:p>
          </p:txBody>
        </p:sp>
      </p:grpSp>
      <p:sp>
        <p:nvSpPr>
          <p:cNvPr id="12" name="Copyright">
            <a:extLst>
              <a:ext uri="{FF2B5EF4-FFF2-40B4-BE49-F238E27FC236}">
                <a16:creationId xmlns:a16="http://schemas.microsoft.com/office/drawing/2014/main" id="{78905AFA-943C-EF23-1AF8-89F62F585F2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946223" y="5913669"/>
            <a:ext cx="2100157" cy="3481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r" defTabSz="914400" rtl="0" eaLnBrk="1" fontAlgn="auto" latinLnBrk="0" hangingPunct="1">
              <a:lnSpc>
                <a:spcPct val="85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00" dirty="0">
                <a:solidFill>
                  <a:srgbClr val="929292"/>
                </a:solidFill>
                <a:latin typeface="Arial Narrow" pitchFamily="24" charset="0"/>
              </a:rPr>
              <a:t>©2020 Barry Johnson and Polarity Partnerships, LLC. All rights reserved.</a:t>
            </a:r>
          </a:p>
          <a:p>
            <a:pPr algn="r">
              <a:lnSpc>
                <a:spcPct val="85000"/>
              </a:lnSpc>
              <a:spcBef>
                <a:spcPct val="0"/>
              </a:spcBef>
            </a:pPr>
            <a:r>
              <a:rPr lang="en-US" sz="700" dirty="0">
                <a:solidFill>
                  <a:srgbClr val="929292"/>
                </a:solidFill>
                <a:latin typeface="Arial Narrow" pitchFamily="24" charset="0"/>
              </a:rPr>
              <a:t>Commercial use encouraged with permission. </a:t>
            </a:r>
          </a:p>
        </p:txBody>
      </p:sp>
      <p:grpSp>
        <p:nvGrpSpPr>
          <p:cNvPr id="13" name="QUADS+GPS+DF (shadow FX)">
            <a:extLst>
              <a:ext uri="{FF2B5EF4-FFF2-40B4-BE49-F238E27FC236}">
                <a16:creationId xmlns:a16="http://schemas.microsoft.com/office/drawing/2014/main" id="{E4C72B2D-1461-9D6A-7CD4-A27503E446E0}"/>
              </a:ext>
            </a:extLst>
          </p:cNvPr>
          <p:cNvGrpSpPr/>
          <p:nvPr userDrawn="1"/>
        </p:nvGrpSpPr>
        <p:grpSpPr>
          <a:xfrm>
            <a:off x="3138467" y="674489"/>
            <a:ext cx="5915068" cy="5507863"/>
            <a:chOff x="2353850" y="674489"/>
            <a:chExt cx="4436301" cy="5507863"/>
          </a:xfr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grpSpPr>
        <p:pic>
          <p:nvPicPr>
            <p:cNvPr id="14" name="UL">
              <a:extLst>
                <a:ext uri="{FF2B5EF4-FFF2-40B4-BE49-F238E27FC236}">
                  <a16:creationId xmlns:a16="http://schemas.microsoft.com/office/drawing/2014/main" id="{3FFF336E-1C94-00E4-D869-0C1D257450B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353850" y="1013198"/>
              <a:ext cx="2224024" cy="2425192"/>
            </a:xfrm>
            <a:prstGeom prst="rect">
              <a:avLst/>
            </a:prstGeom>
          </p:spPr>
        </p:pic>
        <p:pic>
          <p:nvPicPr>
            <p:cNvPr id="15" name="UR">
              <a:extLst>
                <a:ext uri="{FF2B5EF4-FFF2-40B4-BE49-F238E27FC236}">
                  <a16:creationId xmlns:a16="http://schemas.microsoft.com/office/drawing/2014/main" id="{48E0A1E1-BAA3-DD28-C4D6-D8D83F19976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4566127" y="1013198"/>
              <a:ext cx="2224024" cy="2425192"/>
            </a:xfrm>
            <a:prstGeom prst="rect">
              <a:avLst/>
            </a:prstGeom>
          </p:spPr>
        </p:pic>
        <p:pic>
          <p:nvPicPr>
            <p:cNvPr id="16" name="LL">
              <a:extLst>
                <a:ext uri="{FF2B5EF4-FFF2-40B4-BE49-F238E27FC236}">
                  <a16:creationId xmlns:a16="http://schemas.microsoft.com/office/drawing/2014/main" id="{B7E2AC33-E3C1-DE6C-4E0A-4C7CEB428E2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353850" y="3426198"/>
              <a:ext cx="2224024" cy="2425192"/>
            </a:xfrm>
            <a:prstGeom prst="rect">
              <a:avLst/>
            </a:prstGeom>
          </p:spPr>
        </p:pic>
        <p:pic>
          <p:nvPicPr>
            <p:cNvPr id="17" name="LR">
              <a:extLst>
                <a:ext uri="{FF2B5EF4-FFF2-40B4-BE49-F238E27FC236}">
                  <a16:creationId xmlns:a16="http://schemas.microsoft.com/office/drawing/2014/main" id="{9A36D368-5C8C-75E2-0F92-5722C51A32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566127" y="3426198"/>
              <a:ext cx="2224024" cy="2425192"/>
            </a:xfrm>
            <a:prstGeom prst="rect">
              <a:avLst/>
            </a:prstGeom>
          </p:spPr>
        </p:pic>
        <p:pic>
          <p:nvPicPr>
            <p:cNvPr id="18" name="GPS">
              <a:extLst>
                <a:ext uri="{FF2B5EF4-FFF2-40B4-BE49-F238E27FC236}">
                  <a16:creationId xmlns:a16="http://schemas.microsoft.com/office/drawing/2014/main" id="{9C6B6AFA-BE92-71E9-3970-EF3E48FA5A0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932143" y="674489"/>
              <a:ext cx="1285240" cy="681736"/>
            </a:xfrm>
            <a:prstGeom prst="rect">
              <a:avLst/>
            </a:prstGeom>
          </p:spPr>
        </p:pic>
        <p:pic>
          <p:nvPicPr>
            <p:cNvPr id="19" name="DF">
              <a:extLst>
                <a:ext uri="{FF2B5EF4-FFF2-40B4-BE49-F238E27FC236}">
                  <a16:creationId xmlns:a16="http://schemas.microsoft.com/office/drawing/2014/main" id="{DB202411-6B4E-F8D3-6DF0-56B931BA05AF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932143" y="5500616"/>
              <a:ext cx="1285240" cy="681736"/>
            </a:xfrm>
            <a:prstGeom prst="rect">
              <a:avLst/>
            </a:prstGeom>
          </p:spPr>
        </p:pic>
      </p:grpSp>
      <p:sp>
        <p:nvSpPr>
          <p:cNvPr id="20" name="UL">
            <a:extLst>
              <a:ext uri="{FF2B5EF4-FFF2-40B4-BE49-F238E27FC236}">
                <a16:creationId xmlns:a16="http://schemas.microsoft.com/office/drawing/2014/main" id="{E106D8E0-3803-68BE-EEED-DB058492713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81939" y="1071562"/>
            <a:ext cx="2060919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Positive Effekte/Vorteile, wenn wir uns auf den linken Pol fokussieren</a:t>
            </a:r>
          </a:p>
        </p:txBody>
      </p:sp>
      <p:sp>
        <p:nvSpPr>
          <p:cNvPr id="24" name="TEXT GPS reminder">
            <a:extLst>
              <a:ext uri="{FF2B5EF4-FFF2-40B4-BE49-F238E27FC236}">
                <a16:creationId xmlns:a16="http://schemas.microsoft.com/office/drawing/2014/main" id="{1ACC7354-0393-6F69-BCB7-E54036A2430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77358" y="774716"/>
            <a:ext cx="1921276" cy="2722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l">
              <a:lnSpc>
                <a:spcPct val="85000"/>
              </a:lnSpc>
              <a:spcBef>
                <a:spcPct val="0"/>
              </a:spcBef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Übergeordnetes Ziel: Angenommen, wir integrieren beide Pole ideal? </a:t>
            </a:r>
            <a:endParaRPr lang="de-DE" sz="900" noProof="0" dirty="0">
              <a:solidFill>
                <a:srgbClr val="7F7F7F"/>
              </a:solidFill>
              <a:latin typeface="Arial Narrow" pitchFamily="24" charset="0"/>
            </a:endParaRPr>
          </a:p>
        </p:txBody>
      </p:sp>
      <p:sp>
        <p:nvSpPr>
          <p:cNvPr id="25" name="TEXT DF reminder">
            <a:extLst>
              <a:ext uri="{FF2B5EF4-FFF2-40B4-BE49-F238E27FC236}">
                <a16:creationId xmlns:a16="http://schemas.microsoft.com/office/drawing/2014/main" id="{C920E0AB-7F08-9835-011A-BA7069646B0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60725" y="5909642"/>
            <a:ext cx="1921276" cy="2722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l">
              <a:lnSpc>
                <a:spcPct val="85000"/>
              </a:lnSpc>
              <a:spcBef>
                <a:spcPct val="0"/>
              </a:spcBef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Schlimmster  Fall: Was passiert, wenn wir die beiden Pole nicht integrieren können? </a:t>
            </a:r>
            <a:endParaRPr lang="de-DE" sz="900" noProof="0" dirty="0">
              <a:solidFill>
                <a:srgbClr val="7F7F7F"/>
              </a:solidFill>
              <a:latin typeface="Arial Narrow" pitchFamily="24" charset="0"/>
            </a:endParaRPr>
          </a:p>
        </p:txBody>
      </p:sp>
      <p:pic>
        <p:nvPicPr>
          <p:cNvPr id="26" name="4411a">
            <a:extLst>
              <a:ext uri="{FF2B5EF4-FFF2-40B4-BE49-F238E27FC236}">
                <a16:creationId xmlns:a16="http://schemas.microsoft.com/office/drawing/2014/main" id="{70977BBE-A35A-6653-5515-6F6B90C7F5CA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27" name="4411b">
            <a:extLst>
              <a:ext uri="{FF2B5EF4-FFF2-40B4-BE49-F238E27FC236}">
                <a16:creationId xmlns:a16="http://schemas.microsoft.com/office/drawing/2014/main" id="{E427DE7A-C120-BD45-69E8-0A93F206AD79}"/>
              </a:ext>
            </a:extLst>
          </p:cNvPr>
          <p:cNvPicPr>
            <a:picLocks noChangeAspect="1"/>
          </p:cNvPicPr>
          <p:nvPr userDrawn="1"/>
        </p:nvPicPr>
        <p:blipFill>
          <a:blip r:embed="rId18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28" name="4411c">
            <a:extLst>
              <a:ext uri="{FF2B5EF4-FFF2-40B4-BE49-F238E27FC236}">
                <a16:creationId xmlns:a16="http://schemas.microsoft.com/office/drawing/2014/main" id="{805253A9-BF3B-AAA9-B800-D65A46B8C0A8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29" name="4411d">
            <a:extLst>
              <a:ext uri="{FF2B5EF4-FFF2-40B4-BE49-F238E27FC236}">
                <a16:creationId xmlns:a16="http://schemas.microsoft.com/office/drawing/2014/main" id="{39421C68-DCAA-F89B-898D-40EE366A62F0}"/>
              </a:ext>
            </a:extLst>
          </p:cNvPr>
          <p:cNvPicPr>
            <a:picLocks noChangeAspect="1"/>
          </p:cNvPicPr>
          <p:nvPr userDrawn="1"/>
        </p:nvPicPr>
        <p:blipFill>
          <a:blip r:embed="rId20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30" name="And">
            <a:extLst>
              <a:ext uri="{FF2B5EF4-FFF2-40B4-BE49-F238E27FC236}">
                <a16:creationId xmlns:a16="http://schemas.microsoft.com/office/drawing/2014/main" id="{0ED42906-4745-1806-7E55-D0D3CE772EE7}"/>
              </a:ext>
            </a:extLst>
          </p:cNvPr>
          <p:cNvPicPr>
            <a:picLocks noChangeAspect="1"/>
          </p:cNvPicPr>
          <p:nvPr userDrawn="1"/>
        </p:nvPicPr>
        <p:blipFill>
          <a:blip r:embed="rId21"/>
          <a:stretch>
            <a:fillRect/>
          </a:stretch>
        </p:blipFill>
        <p:spPr>
          <a:xfrm>
            <a:off x="5790523" y="3305484"/>
            <a:ext cx="610955" cy="245872"/>
          </a:xfrm>
          <a:prstGeom prst="rect">
            <a:avLst/>
          </a:prstGeo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spPr>
      </p:pic>
      <p:sp>
        <p:nvSpPr>
          <p:cNvPr id="31" name="And TEXT">
            <a:extLst>
              <a:ext uri="{FF2B5EF4-FFF2-40B4-BE49-F238E27FC236}">
                <a16:creationId xmlns:a16="http://schemas.microsoft.com/office/drawing/2014/main" id="{3234A801-5C18-1ADC-97F5-459573A7D48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790523" y="3313155"/>
            <a:ext cx="607305" cy="2458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en-US" sz="1500" i="1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</a:t>
            </a:r>
          </a:p>
        </p:txBody>
      </p:sp>
      <p:pic>
        <p:nvPicPr>
          <p:cNvPr id="32" name="LP">
            <a:extLst>
              <a:ext uri="{FF2B5EF4-FFF2-40B4-BE49-F238E27FC236}">
                <a16:creationId xmlns:a16="http://schemas.microsoft.com/office/drawing/2014/main" id="{BFDA94D3-97E0-7F0A-2ACA-2CFB3408FB3D}"/>
              </a:ext>
            </a:extLst>
          </p:cNvPr>
          <p:cNvPicPr>
            <a:picLocks noChangeAspect="1"/>
          </p:cNvPicPr>
          <p:nvPr userDrawn="1"/>
        </p:nvPicPr>
        <p:blipFill>
          <a:blip r:embed="rId22"/>
          <a:stretch>
            <a:fillRect/>
          </a:stretch>
        </p:blipFill>
        <p:spPr>
          <a:xfrm>
            <a:off x="3856398" y="3087552"/>
            <a:ext cx="1713653" cy="681736"/>
          </a:xfrm>
          <a:prstGeom prst="rect">
            <a:avLst/>
          </a:prstGeo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spPr>
      </p:pic>
      <p:pic>
        <p:nvPicPr>
          <p:cNvPr id="33" name="RP">
            <a:extLst>
              <a:ext uri="{FF2B5EF4-FFF2-40B4-BE49-F238E27FC236}">
                <a16:creationId xmlns:a16="http://schemas.microsoft.com/office/drawing/2014/main" id="{C249E82D-34C9-B6E3-E259-289C64F60F32}"/>
              </a:ext>
            </a:extLst>
          </p:cNvPr>
          <p:cNvPicPr>
            <a:picLocks noChangeAspect="1"/>
          </p:cNvPicPr>
          <p:nvPr userDrawn="1"/>
        </p:nvPicPr>
        <p:blipFill>
          <a:blip r:embed="rId23"/>
          <a:stretch>
            <a:fillRect/>
          </a:stretch>
        </p:blipFill>
        <p:spPr>
          <a:xfrm>
            <a:off x="6621950" y="3087552"/>
            <a:ext cx="1713653" cy="681736"/>
          </a:xfrm>
          <a:prstGeom prst="rect">
            <a:avLst/>
          </a:prstGeo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spPr>
      </p:pic>
      <p:sp>
        <p:nvSpPr>
          <p:cNvPr id="46" name="Textplatzhalter 6">
            <a:extLst>
              <a:ext uri="{FF2B5EF4-FFF2-40B4-BE49-F238E27FC236}">
                <a16:creationId xmlns:a16="http://schemas.microsoft.com/office/drawing/2014/main" id="{D88D4C87-4FAE-D68D-8FAD-18832523B922}"/>
              </a:ext>
            </a:extLst>
          </p:cNvPr>
          <p:cNvSpPr txBox="1">
            <a:spLocks/>
          </p:cNvSpPr>
          <p:nvPr userDrawn="1"/>
        </p:nvSpPr>
        <p:spPr>
          <a:xfrm>
            <a:off x="3160712" y="1354137"/>
            <a:ext cx="2762567" cy="1672869"/>
          </a:xfrm>
          <a:prstGeom prst="rect">
            <a:avLst/>
          </a:prstGeom>
        </p:spPr>
        <p:txBody>
          <a:bodyPr>
            <a:noAutofit/>
          </a:bodyPr>
          <a:lstStyle>
            <a:lvl1pPr marL="136525" indent="-13652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+mj-lt"/>
              <a:buAutoNum type="arabicPeriod"/>
              <a:tabLst/>
              <a:defRPr sz="11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dirty="0"/>
          </a:p>
        </p:txBody>
      </p:sp>
      <p:sp>
        <p:nvSpPr>
          <p:cNvPr id="2" name="UL">
            <a:extLst>
              <a:ext uri="{FF2B5EF4-FFF2-40B4-BE49-F238E27FC236}">
                <a16:creationId xmlns:a16="http://schemas.microsoft.com/office/drawing/2014/main" id="{95AC253B-95AC-EE5D-D031-5AB2C048A8E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950607" y="1044964"/>
            <a:ext cx="2060919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Positive Effekte/Vorteile, wenn wir uns auf den rechten Pol fokussieren</a:t>
            </a:r>
          </a:p>
        </p:txBody>
      </p:sp>
      <p:sp>
        <p:nvSpPr>
          <p:cNvPr id="3" name="TEXT GPS reminder">
            <a:extLst>
              <a:ext uri="{FF2B5EF4-FFF2-40B4-BE49-F238E27FC236}">
                <a16:creationId xmlns:a16="http://schemas.microsoft.com/office/drawing/2014/main" id="{35967715-63ED-FC87-AD7F-3B822358C5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16626" y="775414"/>
            <a:ext cx="1921276" cy="2722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r">
              <a:lnSpc>
                <a:spcPct val="85000"/>
              </a:lnSpc>
              <a:spcBef>
                <a:spcPct val="0"/>
              </a:spcBef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Übergeordnetes Ziel: Angenommen, wir integrieren beide Pole ideal? </a:t>
            </a:r>
            <a:endParaRPr lang="de-DE" sz="900" noProof="0" dirty="0">
              <a:solidFill>
                <a:srgbClr val="7F7F7F"/>
              </a:solidFill>
              <a:latin typeface="Arial Narrow" pitchFamily="24" charset="0"/>
            </a:endParaRPr>
          </a:p>
        </p:txBody>
      </p:sp>
      <p:sp>
        <p:nvSpPr>
          <p:cNvPr id="5" name="UL">
            <a:extLst>
              <a:ext uri="{FF2B5EF4-FFF2-40B4-BE49-F238E27FC236}">
                <a16:creationId xmlns:a16="http://schemas.microsoft.com/office/drawing/2014/main" id="{D6996D85-FB10-CD8A-0CB4-4FB6D7BFC68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055210" y="5501745"/>
            <a:ext cx="1962621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Negative Effekte/Nachteile, wenn wir uns übermäßig auf den rechten Pol zu Lasten des linken Pols fokussieren</a:t>
            </a:r>
          </a:p>
        </p:txBody>
      </p:sp>
      <p:sp>
        <p:nvSpPr>
          <p:cNvPr id="6" name="UL">
            <a:extLst>
              <a:ext uri="{FF2B5EF4-FFF2-40B4-BE49-F238E27FC236}">
                <a16:creationId xmlns:a16="http://schemas.microsoft.com/office/drawing/2014/main" id="{91B0B13F-B8BA-EEA3-1195-2FF7130A939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81939" y="5488097"/>
            <a:ext cx="2060919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Negative Effekte/Nachteile, wenn wir uns übermäßig auf den linken Pol zu Lasten des rechten Pols fokussieren</a:t>
            </a:r>
          </a:p>
        </p:txBody>
      </p:sp>
    </p:spTree>
    <p:extLst>
      <p:ext uri="{BB962C8B-B14F-4D97-AF65-F5344CB8AC3E}">
        <p14:creationId xmlns:p14="http://schemas.microsoft.com/office/powerpoint/2010/main" val="28210660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7FD5B-10AB-F825-6620-A734AD24D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03D2FA06-702C-146F-E3FD-7387FFA2414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8C72716-128D-2C32-96C2-9B93C46D883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3F71070-E19F-204B-E43C-8129EC7E2B6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9C0068E-1BBB-DBB5-3E7C-D2DB168CEE1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05398D55-6143-6F7F-5026-13948A14141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pPr lvl="0">
              <a:buAutoNum type="arabicPeriod"/>
            </a:pPr>
            <a:r>
              <a:rPr lang="de-DE" dirty="0" sz="1100"/>
              <a:t/>
            </a:r>
          </a:p>
          <a:p>
            <a:pPr lvl="0">
              <a:buAutoNum type="arabicPeriod"/>
            </a:pPr>
            <a:r>
              <a:rPr lang="de-DE" dirty="0" sz="1100"/>
              <a:t/>
            </a:r>
          </a:p>
          <a:p>
            <a:pPr lvl="0">
              <a:buAutoNum type="arabicPeriod"/>
            </a:pPr>
            <a:r>
              <a:rPr lang="de-DE" dirty="0" sz="1100"/>
              <a:t/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AF71A9D-341A-BB99-6B66-85239FAB97F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pPr lvl="0">
              <a:buAutoNum type="arabicPeriod"/>
            </a:pPr>
            <a:r>
              <a:rPr lang="de-DE" dirty="0" sz="1100"/>
              <a:t/>
            </a:r>
          </a:p>
          <a:p>
            <a:pPr lvl="0">
              <a:buAutoNum type="arabicPeriod"/>
            </a:pPr>
            <a:r>
              <a:rPr lang="de-DE" dirty="0" sz="1100"/>
              <a:t/>
            </a:r>
          </a:p>
          <a:p>
            <a:pPr lvl="0">
              <a:buAutoNum type="arabicPeriod"/>
            </a:pPr>
            <a:r>
              <a:rPr lang="de-DE" dirty="0" sz="1100"/>
              <a:t/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E39FEE0-5560-15BC-6FED-604D2FC9EA1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lvl="0">
              <a:buAutoNum type="arabicPeriod"/>
            </a:pPr>
            <a:r>
              <a:rPr lang="de-DE" dirty="0" sz="1100"/>
              <a:t/>
            </a:r>
          </a:p>
          <a:p>
            <a:pPr lvl="0">
              <a:buAutoNum type="arabicPeriod"/>
            </a:pPr>
            <a:r>
              <a:rPr lang="de-DE" dirty="0" sz="1100"/>
              <a:t/>
            </a:r>
          </a:p>
          <a:p>
            <a:pPr lvl="0">
              <a:buAutoNum type="arabicPeriod"/>
            </a:pPr>
            <a:r>
              <a:rPr lang="de-DE" dirty="0" sz="1100"/>
              <a:t/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BCDB4BE-F4A5-A363-5E66-9A6CF457A0B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lvl="0">
              <a:buAutoNum type="arabicPeriod"/>
            </a:pPr>
            <a:r>
              <a:rPr lang="de-DE" dirty="0" sz="1100"/>
              <a:t/>
            </a:r>
          </a:p>
          <a:p>
            <a:pPr lvl="0">
              <a:buAutoNum type="arabicPeriod"/>
            </a:pPr>
            <a:r>
              <a:rPr lang="de-DE" dirty="0" sz="1100"/>
              <a:t/>
            </a:r>
          </a:p>
          <a:p>
            <a:pPr lvl="0">
              <a:buAutoNum type="arabicPeriod"/>
            </a:pPr>
            <a:r>
              <a:rPr lang="de-DE" dirty="0" sz="1100"/>
              <a:t/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108E8E27-D099-E998-2405-A0D8523A08C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lvl="0">
              <a:buAutoNum type="arabicPeriod"/>
            </a:pPr>
            <a:r>
              <a:rPr lang="de-DE" dirty="0" sz="1100"/>
              <a:t/>
            </a:r>
          </a:p>
          <a:p>
            <a:pPr lvl="0">
              <a:buAutoNum type="arabicPeriod"/>
            </a:pPr>
            <a:r>
              <a:rPr lang="de-DE" dirty="0" sz="1100"/>
              <a:t/>
            </a:r>
          </a:p>
          <a:p>
            <a:pPr lvl="0">
              <a:buAutoNum type="arabicPeriod"/>
            </a:pPr>
            <a:r>
              <a:rPr lang="de-DE" dirty="0" sz="1100"/>
              <a:t/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47F1A4A7-3012-BDC8-BF97-906688132269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lvl="0">
              <a:buAutoNum type="arabicPeriod"/>
            </a:pPr>
            <a:r>
              <a:rPr lang="de-DE" dirty="0" sz="1100"/>
              <a:t/>
            </a:r>
          </a:p>
          <a:p>
            <a:pPr lvl="0">
              <a:buAutoNum type="arabicPeriod"/>
            </a:pPr>
            <a:r>
              <a:rPr lang="de-DE" dirty="0" sz="1100"/>
              <a:t/>
            </a:r>
          </a:p>
          <a:p>
            <a:pPr lvl="0">
              <a:buAutoNum type="arabicPeriod"/>
            </a:pPr>
            <a:r>
              <a:rPr lang="de-DE" dirty="0" sz="1100"/>
              <a:t/>
            </a:r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741EEA70-AB51-297D-77A5-01E599CECAC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lvl="0">
              <a:buAutoNum type="arabicPeriod"/>
            </a:pPr>
            <a:r>
              <a:rPr lang="de-DE" dirty="0" sz="1100"/>
              <a:t/>
            </a:r>
          </a:p>
          <a:p>
            <a:pPr lvl="0">
              <a:buAutoNum type="arabicPeriod"/>
            </a:pPr>
            <a:r>
              <a:rPr lang="de-DE" dirty="0" sz="1100"/>
              <a:t/>
            </a:r>
          </a:p>
          <a:p>
            <a:pPr lvl="0">
              <a:buAutoNum type="arabicPeriod"/>
            </a:pPr>
            <a:r>
              <a:rPr lang="de-DE" dirty="0" sz="1100"/>
              <a:t/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17A6EA7A-F5A3-BCA9-2E13-28860634A71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lvl="0">
              <a:buAutoNum type="arabicPeriod"/>
            </a:pPr>
            <a:r>
              <a:rPr lang="de-DE" dirty="0" sz="1100"/>
              <a:t/>
            </a:r>
          </a:p>
          <a:p>
            <a:pPr lvl="0">
              <a:buAutoNum type="arabicPeriod"/>
            </a:pPr>
            <a:r>
              <a:rPr lang="de-DE" dirty="0" sz="1100"/>
              <a:t/>
            </a:r>
          </a:p>
          <a:p>
            <a:pPr lvl="0">
              <a:buAutoNum type="arabicPeriod"/>
            </a:pPr>
            <a:r>
              <a:rPr lang="de-DE" dirty="0" sz="110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03567940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7037&quot;&gt;&lt;version val=&quot;33131&quot;/&gt;&lt;CPresentation id=&quot;1&quot;&gt;&lt;m_precDefaultNumber&gt;&lt;m_yearfmt&gt;&lt;begin val=&quot;0&quot;/&gt;&lt;end val=&quot;4&quot;/&gt;&lt;/m_yearfmt&gt;&lt;/m_precDefaultNumber&gt;&lt;m_precDefaultPercent&gt;&lt;m_yearfmt&gt;&lt;begin val=&quot;0&quot;/&gt;&lt;end val=&quot;4&quot;/&gt;&lt;/m_yearfmt&gt;&lt;/m_precDefaultPercent&gt;&lt;m_precDefaultDate&gt;&lt;m_yearfmt&gt;&lt;begin val=&quot;0&quot;/&gt;&lt;end val=&quot;4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4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0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/CPresentation&gt;&lt;/root&gt;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olarity Map" id="{F1DCE8EC-0A42-5A46-9AE6-867E2F0F83D3}" vid="{6F0C4F00-7A3C-AF4C-88E8-9A10DE101EE9}"/>
    </a:ext>
  </a:extLst>
</a:theme>
</file>

<file path=ppt/theme/theme2.xml><?xml version="1.0" encoding="utf-8"?>
<a:theme xmlns:a="http://schemas.openxmlformats.org/drawingml/2006/main" name="1_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olarity Map" id="{F1DCE8EC-0A42-5A46-9AE6-867E2F0F83D3}" vid="{6F0C4F00-7A3C-AF4C-88E8-9A10DE101EE9}"/>
    </a:ext>
  </a:extLst>
</a:theme>
</file>

<file path=ppt/theme/theme3.xml><?xml version="1.0" encoding="utf-8"?>
<a:theme xmlns:a="http://schemas.openxmlformats.org/drawingml/2006/main" name="Office">
  <a:themeElements>
    <a:clrScheme name="Benutzerdefiniert 101">
      <a:dk1>
        <a:sysClr val="windowText" lastClr="000000"/>
      </a:dk1>
      <a:lt1>
        <a:sysClr val="window" lastClr="FFFFFF"/>
      </a:lt1>
      <a:dk2>
        <a:srgbClr val="764C61"/>
      </a:dk2>
      <a:lt2>
        <a:srgbClr val="FBE500"/>
      </a:lt2>
      <a:accent1>
        <a:srgbClr val="A4BC39"/>
      </a:accent1>
      <a:accent2>
        <a:srgbClr val="FF8A00"/>
      </a:accent2>
      <a:accent3>
        <a:srgbClr val="3288BD"/>
      </a:accent3>
      <a:accent4>
        <a:srgbClr val="286763"/>
      </a:accent4>
      <a:accent5>
        <a:srgbClr val="E93D7B"/>
      </a:accent5>
      <a:accent6>
        <a:srgbClr val="FF4534"/>
      </a:accent6>
      <a:hlink>
        <a:srgbClr val="C00000"/>
      </a:hlink>
      <a:folHlink>
        <a:srgbClr val="1D1B10"/>
      </a:folHlink>
    </a:clrScheme>
    <a:fontScheme name="_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">
  <a:themeElements>
    <a:clrScheme name="Benutzerdefiniert 101">
      <a:dk1>
        <a:sysClr val="windowText" lastClr="000000"/>
      </a:dk1>
      <a:lt1>
        <a:sysClr val="window" lastClr="FFFFFF"/>
      </a:lt1>
      <a:dk2>
        <a:srgbClr val="764C61"/>
      </a:dk2>
      <a:lt2>
        <a:srgbClr val="FBE500"/>
      </a:lt2>
      <a:accent1>
        <a:srgbClr val="A4BC39"/>
      </a:accent1>
      <a:accent2>
        <a:srgbClr val="FF8A00"/>
      </a:accent2>
      <a:accent3>
        <a:srgbClr val="3288BD"/>
      </a:accent3>
      <a:accent4>
        <a:srgbClr val="286763"/>
      </a:accent4>
      <a:accent5>
        <a:srgbClr val="E93D7B"/>
      </a:accent5>
      <a:accent6>
        <a:srgbClr val="FF4534"/>
      </a:accent6>
      <a:hlink>
        <a:srgbClr val="C00000"/>
      </a:hlink>
      <a:folHlink>
        <a:srgbClr val="1D1B10"/>
      </a:folHlink>
    </a:clrScheme>
    <a:fontScheme name="_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CAD2DA40B50D7B4296E107ED54861C11" ma:contentTypeVersion="10" ma:contentTypeDescription="Ein neues Dokument erstellen." ma:contentTypeScope="" ma:versionID="0cf6365f1461275636adc08cc8c2bda2">
  <xsd:schema xmlns:xsd="http://www.w3.org/2001/XMLSchema" xmlns:xs="http://www.w3.org/2001/XMLSchema" xmlns:p="http://schemas.microsoft.com/office/2006/metadata/properties" xmlns:ns3="2f440e52-afa7-4eff-abb3-aac605e6c0f8" xmlns:ns4="0957cc03-33fa-46d1-a827-606688540605" targetNamespace="http://schemas.microsoft.com/office/2006/metadata/properties" ma:root="true" ma:fieldsID="8925479bb59cfd4738bd52ff79264e5d" ns3:_="" ns4:_="">
    <xsd:import namespace="2f440e52-afa7-4eff-abb3-aac605e6c0f8"/>
    <xsd:import namespace="0957cc03-33fa-46d1-a827-60668854060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f440e52-afa7-4eff-abb3-aac605e6c0f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57cc03-33fa-46d1-a827-606688540605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Freigabehinweis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C9469E2C-04AB-447F-A0F8-7F1D2C3A936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f440e52-afa7-4eff-abb3-aac605e6c0f8"/>
    <ds:schemaRef ds:uri="0957cc03-33fa-46d1-a827-60668854060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2238F00-6598-42FB-ACDF-E1325E27867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FF9BA82-9E46-4CCB-9AB0-02D700E142CA}">
  <ds:schemaRefs>
    <ds:schemaRef ds:uri="http://schemas.microsoft.com/office/infopath/2007/PartnerControls"/>
    <ds:schemaRef ds:uri="http://www.w3.org/XML/1998/namespace"/>
    <ds:schemaRef ds:uri="http://purl.org/dc/terms/"/>
    <ds:schemaRef ds:uri="2f440e52-afa7-4eff-abb3-aac605e6c0f8"/>
    <ds:schemaRef ds:uri="http://schemas.microsoft.com/office/2006/documentManagement/types"/>
    <ds:schemaRef ds:uri="http://schemas.microsoft.com/office/2006/metadata/properties"/>
    <ds:schemaRef ds:uri="http://purl.org/dc/elements/1.1/"/>
    <ds:schemaRef ds:uri="http://schemas.openxmlformats.org/package/2006/metadata/core-properties"/>
    <ds:schemaRef ds:uri="0957cc03-33fa-46d1-a827-606688540605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Folienvorlage_osb_PowerPoint_16x9_mit_Platzhaltern_200422</Template>
  <TotalTime>0</TotalTime>
  <Words>1</Words>
  <Application>Microsoft Office PowerPoint</Application>
  <PresentationFormat>Breitbild</PresentationFormat>
  <Paragraphs>1</Paragraphs>
  <Slides>1</Slides>
  <Notes>1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2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7" baseType="lpstr">
      <vt:lpstr>Arial</vt:lpstr>
      <vt:lpstr>Arial Narrow</vt:lpstr>
      <vt:lpstr>Times New Roman</vt:lpstr>
      <vt:lpstr>Office</vt:lpstr>
      <vt:lpstr>1_Office</vt:lpstr>
      <vt:lpstr>think-cell Folie</vt:lpstr>
      <vt:lpstr>PowerPoint-Präsentation</vt:lpstr>
    </vt:vector>
  </TitlesOfParts>
  <Company>osb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Change</dc:title>
  <dc:creator>abe</dc:creator>
  <cp:lastModifiedBy>Shervin Schumacher</cp:lastModifiedBy>
  <cp:revision>1694</cp:revision>
  <cp:lastPrinted>2023-06-05T11:31:13Z</cp:lastPrinted>
  <dcterms:created xsi:type="dcterms:W3CDTF">2020-05-26T10:23:24Z</dcterms:created>
  <dcterms:modified xsi:type="dcterms:W3CDTF">2026-03-15T21:05:19Z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0x010100CAD2DA40B50D7B4296E107ED54861C11</vt:lpwstr>
  </property>
</Properties>
</file>