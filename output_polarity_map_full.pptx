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0" r:id="rId4"/>
    <p:sldMasterId id="2147483677" r:id="rId5"/>
  </p:sldMasterIdLst>
  <p:notesMasterIdLst>
    <p:notesMasterId r:id="rId7"/>
  </p:notesMasterIdLst>
  <p:handoutMasterIdLst>
    <p:handoutMasterId r:id="rId8"/>
  </p:handoutMasterIdLst>
  <p:sldIdLst>
    <p:sldId id="2147477004" r:id="rId6"/>
  </p:sldIdLst>
  <p:sldSz cx="12192000" cy="6858000"/>
  <p:notesSz cx="6797675" cy="9928225"/>
  <p:custDataLst>
    <p:tags r:id="rId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choch Cyril" initials="SC" lastIdx="1" clrIdx="0">
    <p:extLst>
      <p:ext uri="{19B8F6BF-5375-455C-9EA6-DF929625EA0E}">
        <p15:presenceInfo xmlns:p15="http://schemas.microsoft.com/office/powerpoint/2012/main" userId="S-1-5-21-2908198854-538845383-240637774-137318" providerId="AD"/>
      </p:ext>
    </p:extLst>
  </p:cmAuthor>
  <p:cmAuthor id="2" name="Meier Raphaela" initials="MR" lastIdx="1" clrIdx="1">
    <p:extLst>
      <p:ext uri="{19B8F6BF-5375-455C-9EA6-DF929625EA0E}">
        <p15:presenceInfo xmlns:p15="http://schemas.microsoft.com/office/powerpoint/2012/main" userId="S-1-5-21-2908198854-538845383-240637774-439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A4BC39"/>
    <a:srgbClr val="E0E7CE"/>
    <a:srgbClr val="EADDCE"/>
    <a:srgbClr val="B4D7A0"/>
    <a:srgbClr val="C7DFB0"/>
    <a:srgbClr val="78DEC8"/>
    <a:srgbClr val="FFFFFF"/>
    <a:srgbClr val="F6F6F6"/>
    <a:srgbClr val="764C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25" autoAdjust="0"/>
    <p:restoredTop sz="94930" autoAdjust="0"/>
  </p:normalViewPr>
  <p:slideViewPr>
    <p:cSldViewPr snapToGrid="0" showGuides="1">
      <p:cViewPr varScale="1">
        <p:scale>
          <a:sx n="103" d="100"/>
          <a:sy n="103" d="100"/>
        </p:scale>
        <p:origin x="1386" y="3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4938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CDAE72-F0F0-4DC9-925C-E19F3E161AF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356412-D955-4B83-B685-59CE6C80C2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7ADD5588-BCF2-40FE-8A3B-36E9EAD3703B}" type="datetimeFigureOut">
              <a:rPr lang="de-DE" smtClean="0"/>
              <a:t>15.03.2026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914B5D4-180D-4D92-A143-2DBE61B26F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E56B384-0597-428E-A706-1327F1A9C12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BA61501E-CE83-4C54-93BC-1BE55A189F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3735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2D0F67DE-56A6-4A8F-ACF6-9B5458C10BEE}" type="datetimeFigureOut">
              <a:rPr lang="de-DE" smtClean="0"/>
              <a:t>15.03.2026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959"/>
            <a:ext cx="5438140" cy="3909239"/>
          </a:xfrm>
          <a:prstGeom prst="rect">
            <a:avLst/>
          </a:prstGeom>
        </p:spPr>
        <p:txBody>
          <a:bodyPr vert="horz" lIns="91433" tIns="45717" rIns="91433" bIns="45717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54A77E11-AC66-43BB-AF26-A8DD5D660E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6804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A77E11-AC66-43BB-AF26-A8DD5D660EB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67245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12473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3734181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77747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94803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68755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7491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75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693371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218886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437318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026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8014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Relationship Id="rId8" Type="http://schemas.openxmlformats.org/officeDocument/2006/relationships/tags" Target="../tags/tag3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789512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5" r:id="rId3"/>
    <p:sldLayoutId id="2147483673" r:id="rId4"/>
    <p:sldLayoutId id="2147483674" r:id="rId5"/>
    <p:sldLayoutId id="214748367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821066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FD5B-10AB-F825-6620-A734AD24D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3D2FA06-702C-146F-E3FD-7387FFA241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de-DE" dirty="0" sz="1200"/>
              <a:t>Ganzheitliche Intelligenz für nachhaltigen Lebens- und Arbeitserfolg.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8C72716-128D-2C32-96C2-9B93C46D883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lvl="0"/>
            <a:r>
              <a:rPr lang="de-DE" dirty="0" sz="1200"/>
              <a:t>Die Organisation scheitert an einseitiger Intelligenznutzung.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F71070-E19F-204B-E43C-8129EC7E2B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0"/>
            <a:r>
              <a:rPr lang="de-DE" dirty="0" sz="1200"/>
              <a:t>Emotionale und soziale Intelligenz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9C0068E-1BBB-DBB5-3E7C-D2DB168CEE1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de-DE" dirty="0" sz="1200"/>
              <a:t>Kognitive Intelligenz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5398D55-6143-6F7F-5026-13948A14141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Teams arbeiten vertrauensvoll und konfliktfähig zusammen</a:t>
            </a:r>
          </a:p>
          <a:p>
            <a:pPr lvl="0">
              <a:buAutoNum type="arabicPeriod"/>
            </a:pPr>
            <a:r>
              <a:rPr lang="de-DE" dirty="0" sz="1100"/>
              <a:t>Führungskräfte regulieren Emotionen in Stresssituationen souverän</a:t>
            </a:r>
          </a:p>
          <a:p>
            <a:pPr lvl="0">
              <a:buAutoNum type="arabicPeriod"/>
            </a:pPr>
            <a:r>
              <a:rPr lang="de-DE" dirty="0" sz="1100"/>
              <a:t>Mitarbeitende bauen tragfähige berufliche Netzwerke auf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AF71A9D-341A-BB99-6B66-85239FAB97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Analytische Tiefe fehlt bei komplexen Sachfragen</a:t>
            </a:r>
          </a:p>
          <a:p>
            <a:pPr lvl="0">
              <a:buAutoNum type="arabicPeriod"/>
            </a:pPr>
            <a:r>
              <a:rPr lang="de-DE" dirty="0" sz="1100"/>
              <a:t>Emotionale Dynamiken überlagern rationale Entscheidungsfindung</a:t>
            </a:r>
          </a:p>
          <a:p>
            <a:pPr lvl="0">
              <a:buAutoNum type="arabicPeriod"/>
            </a:pPr>
            <a:r>
              <a:rPr lang="de-DE" dirty="0" sz="1100"/>
              <a:t>Technische Innovationen bleiben hinter Möglichkeiten zurück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E39FEE0-5560-15BC-6FED-604D2FC9EA1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Komplexe Probleme werden analytisch durchdrungen</a:t>
            </a:r>
          </a:p>
          <a:p>
            <a:pPr lvl="0">
              <a:buAutoNum type="arabicPeriod"/>
            </a:pPr>
            <a:r>
              <a:rPr lang="de-DE" dirty="0" sz="1100"/>
              <a:t>Entscheidungen basieren auf validierten Datenanalysen</a:t>
            </a:r>
          </a:p>
          <a:p>
            <a:pPr lvl="0">
              <a:buAutoNum type="arabicPeriod"/>
            </a:pPr>
            <a:r>
              <a:rPr lang="de-DE" dirty="0" sz="1100"/>
              <a:t>Fachliche Exzellenz prägt die Arbeitsqualität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BCDB4BE-F4A5-A363-5E66-9A6CF457A0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Teamkonflikte eskalieren durch fehlende Empathie</a:t>
            </a:r>
          </a:p>
          <a:p>
            <a:pPr lvl="0">
              <a:buAutoNum type="arabicPeriod"/>
            </a:pPr>
            <a:r>
              <a:rPr lang="de-DE" dirty="0" sz="1100"/>
              <a:t>Führungskräfte scheitern an zwischenmenschlichen Herausforderungen</a:t>
            </a:r>
          </a:p>
          <a:p>
            <a:pPr lvl="0">
              <a:buAutoNum type="arabicPeriod"/>
            </a:pPr>
            <a:r>
              <a:rPr lang="de-DE" dirty="0" sz="1100"/>
              <a:t>Mitarbeiterbindung leidet unter rein leistungsorientierter Kultur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08E8E27-D099-E998-2405-A0D8523A08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Emotionale Intelligenz-Trainings für alle Führungsebenen etablieren</a:t>
            </a:r>
          </a:p>
          <a:p>
            <a:pPr lvl="0">
              <a:buAutoNum type="arabicPeriod"/>
            </a:pPr>
            <a:r>
              <a:rPr lang="de-DE" dirty="0" sz="1100"/>
              <a:t>360-Grad-Feedback zu sozialen Kompetenzen implementieren</a:t>
            </a:r>
          </a:p>
          <a:p>
            <a:pPr lvl="0">
              <a:buAutoNum type="arabicPeriod"/>
            </a:pPr>
            <a:r>
              <a:rPr lang="de-DE" dirty="0" sz="1100"/>
              <a:t>Teamreflexionsformate für emotionale Dynamiken einführen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7F1A4A7-3012-BDC8-BF97-90668813226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Sachentscheidungen werden zunehmend personalisiert</a:t>
            </a:r>
          </a:p>
          <a:p>
            <a:pPr lvl="0">
              <a:buAutoNum type="arabicPeriod"/>
            </a:pPr>
            <a:r>
              <a:rPr lang="de-DE" dirty="0" sz="1100"/>
              <a:t>Analytische Berichte verlieren an Detailtiefe</a:t>
            </a:r>
          </a:p>
          <a:p>
            <a:pPr lvl="0">
              <a:buAutoNum type="arabicPeriod"/>
            </a:pPr>
            <a:r>
              <a:rPr lang="de-DE" dirty="0" sz="1100"/>
              <a:t>Fachliche Standards werden zugunsten von Harmonie aufgeweicht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41EEA70-AB51-297D-77A5-01E599CECAC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Systematische Weiterbildung in analytischen Methoden anbieten</a:t>
            </a:r>
          </a:p>
          <a:p>
            <a:pPr lvl="0">
              <a:buAutoNum type="arabicPeriod"/>
            </a:pPr>
            <a:r>
              <a:rPr lang="de-DE" dirty="0" sz="1100"/>
              <a:t>Datenbasierte Entscheidungsprozesse standardisieren</a:t>
            </a:r>
          </a:p>
          <a:p>
            <a:pPr lvl="0">
              <a:buAutoNum type="arabicPeriod"/>
            </a:pPr>
            <a:r>
              <a:rPr lang="de-DE" dirty="0" sz="1100"/>
              <a:t>Fachliche Exzellenzprogramme für Spezialisten entwickeln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7A6EA7A-F5A3-BCA9-2E13-28860634A71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Fluktuation steigt trotz hoher fachlicher Performance</a:t>
            </a:r>
          </a:p>
          <a:p>
            <a:pPr lvl="0">
              <a:buAutoNum type="arabicPeriod"/>
            </a:pPr>
            <a:r>
              <a:rPr lang="de-DE" dirty="0" sz="1100"/>
              <a:t>Teamkonflikte häufen sich und bleiben ungelöst</a:t>
            </a:r>
          </a:p>
          <a:p>
            <a:pPr lvl="0">
              <a:buAutoNum type="arabicPeriod"/>
            </a:pPr>
            <a:r>
              <a:rPr lang="de-DE" dirty="0" sz="1100"/>
              <a:t>Führungskräfte werden primär nach IQ ausgewählt</a:t>
            </a:r>
          </a:p>
        </p:txBody>
      </p:sp>
    </p:spTree>
    <p:extLst>
      <p:ext uri="{BB962C8B-B14F-4D97-AF65-F5344CB8AC3E}">
        <p14:creationId xmlns:p14="http://schemas.microsoft.com/office/powerpoint/2010/main" val="30356794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3131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2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3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AD2DA40B50D7B4296E107ED54861C11" ma:contentTypeVersion="10" ma:contentTypeDescription="Ein neues Dokument erstellen." ma:contentTypeScope="" ma:versionID="0cf6365f1461275636adc08cc8c2bda2">
  <xsd:schema xmlns:xsd="http://www.w3.org/2001/XMLSchema" xmlns:xs="http://www.w3.org/2001/XMLSchema" xmlns:p="http://schemas.microsoft.com/office/2006/metadata/properties" xmlns:ns3="2f440e52-afa7-4eff-abb3-aac605e6c0f8" xmlns:ns4="0957cc03-33fa-46d1-a827-606688540605" targetNamespace="http://schemas.microsoft.com/office/2006/metadata/properties" ma:root="true" ma:fieldsID="8925479bb59cfd4738bd52ff79264e5d" ns3:_="" ns4:_="">
    <xsd:import namespace="2f440e52-afa7-4eff-abb3-aac605e6c0f8"/>
    <xsd:import namespace="0957cc03-33fa-46d1-a827-60668854060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440e52-afa7-4eff-abb3-aac605e6c0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57cc03-33fa-46d1-a827-60668854060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Freigabehinweis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9469E2C-04AB-447F-A0F8-7F1D2C3A93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440e52-afa7-4eff-abb3-aac605e6c0f8"/>
    <ds:schemaRef ds:uri="0957cc03-33fa-46d1-a827-606688540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2238F00-6598-42FB-ACDF-E1325E2786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FF9BA82-9E46-4CCB-9AB0-02D700E142CA}">
  <ds:schemaRefs>
    <ds:schemaRef ds:uri="http://schemas.microsoft.com/office/infopath/2007/PartnerControls"/>
    <ds:schemaRef ds:uri="http://www.w3.org/XML/1998/namespace"/>
    <ds:schemaRef ds:uri="http://purl.org/dc/terms/"/>
    <ds:schemaRef ds:uri="2f440e52-afa7-4eff-abb3-aac605e6c0f8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0957cc03-33fa-46d1-a827-606688540605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Folienvorlage_osb_PowerPoint_16x9_mit_Platzhaltern_200422</Template>
  <TotalTime>0</TotalTime>
  <Words>1</Words>
  <Application>Microsoft Office PowerPoint</Application>
  <PresentationFormat>Breitbild</PresentationFormat>
  <Paragraphs>1</Paragraphs>
  <Slides>1</Slides>
  <Notes>1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Arial Narrow</vt:lpstr>
      <vt:lpstr>Times New Roman</vt:lpstr>
      <vt:lpstr>Office</vt:lpstr>
      <vt:lpstr>1_Office</vt:lpstr>
      <vt:lpstr>think-cell Folie</vt:lpstr>
      <vt:lpstr>PowerPoint-Präsentation</vt:lpstr>
    </vt:vector>
  </TitlesOfParts>
  <Company>osb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</dc:title>
  <dc:creator>abe</dc:creator>
  <cp:lastModifiedBy>Shervin Schumacher</cp:lastModifiedBy>
  <cp:revision>1694</cp:revision>
  <cp:lastPrinted>2023-06-05T11:31:13Z</cp:lastPrinted>
  <dcterms:created xsi:type="dcterms:W3CDTF">2020-05-26T10:23:24Z</dcterms:created>
  <dcterms:modified xsi:type="dcterms:W3CDTF">2026-03-15T21:05:19Z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0x010100CAD2DA40B50D7B4296E107ED54861C11</vt:lpwstr>
  </property>
</Properties>
</file>