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3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4"/>
    <p:sldMasterId id="2147483677" r:id="rId5"/>
  </p:sldMasterIdLst>
  <p:notesMasterIdLst>
    <p:notesMasterId r:id="rId7"/>
  </p:notesMasterIdLst>
  <p:handoutMasterIdLst>
    <p:handoutMasterId r:id="rId8"/>
  </p:handoutMasterIdLst>
  <p:sldIdLst>
    <p:sldId id="2147477004" r:id="rId6"/>
  </p:sldIdLst>
  <p:sldSz cx="12192000" cy="6858000"/>
  <p:notesSz cx="6797675" cy="9928225"/>
  <p:custDataLst>
    <p:tags r:id="rId9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choch Cyril" initials="SC" lastIdx="1" clrIdx="0">
    <p:extLst>
      <p:ext uri="{19B8F6BF-5375-455C-9EA6-DF929625EA0E}">
        <p15:presenceInfo xmlns:p15="http://schemas.microsoft.com/office/powerpoint/2012/main" userId="S-1-5-21-2908198854-538845383-240637774-137318" providerId="AD"/>
      </p:ext>
    </p:extLst>
  </p:cmAuthor>
  <p:cmAuthor id="2" name="Meier Raphaela" initials="MR" lastIdx="1" clrIdx="1">
    <p:extLst>
      <p:ext uri="{19B8F6BF-5375-455C-9EA6-DF929625EA0E}">
        <p15:presenceInfo xmlns:p15="http://schemas.microsoft.com/office/powerpoint/2012/main" userId="S-1-5-21-2908198854-538845383-240637774-4392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A4BC39"/>
    <a:srgbClr val="E0E7CE"/>
    <a:srgbClr val="EADDCE"/>
    <a:srgbClr val="B4D7A0"/>
    <a:srgbClr val="C7DFB0"/>
    <a:srgbClr val="78DEC8"/>
    <a:srgbClr val="FFFFFF"/>
    <a:srgbClr val="F6F6F6"/>
    <a:srgbClr val="764C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Mittlere Formatvorlage 2 - Akz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ittlere Formatvorlage 4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7AC3CCA-C797-4891-BE02-D94E43425B78}" styleName="Mittlere Formatvorlag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1E4AEA4-8DFA-4A89-87EB-49C32662AFE0}" styleName="Mittlere Formatvorlage 2 - Akz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ittlere Formatvorlage 2 - Akz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Mittlere Formatvorlage 3 - Akz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ittlere Formatvorlage 3 - Akz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25" autoAdjust="0"/>
    <p:restoredTop sz="94930" autoAdjust="0"/>
  </p:normalViewPr>
  <p:slideViewPr>
    <p:cSldViewPr snapToGrid="0" showGuides="1">
      <p:cViewPr varScale="1">
        <p:scale>
          <a:sx n="103" d="100"/>
          <a:sy n="103" d="100"/>
        </p:scale>
        <p:origin x="1386" y="3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21" d="100"/>
          <a:sy n="121" d="100"/>
        </p:scale>
        <p:origin x="4938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30CDAE72-F0F0-4DC9-925C-E19F3E161AF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5356412-D955-4B83-B685-59CE6C80C24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4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7ADD5588-BCF2-40FE-8A3B-36E9EAD3703B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914B5D4-180D-4D92-A143-2DBE61B26F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E56B384-0597-428E-A706-1327F1A9C12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BA61501E-CE83-4C54-93BC-1BE55A189F3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563735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8135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2D0F67DE-56A6-4A8F-ACF6-9B5458C10BEE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1433" tIns="45717" rIns="91433" bIns="45717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8134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54A77E11-AC66-43BB-AF26-A8DD5D660EB0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668040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77E11-AC66-43BB-AF26-A8DD5D660EB0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167245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4.wdp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microsoft.com/office/2007/relationships/hdphoto" Target="../media/hdphoto3.wdp"/><Relationship Id="rId5" Type="http://schemas.openxmlformats.org/officeDocument/2006/relationships/image" Target="../media/image16.png"/><Relationship Id="rId4" Type="http://schemas.microsoft.com/office/2007/relationships/hdphoto" Target="../media/hdphoto2.wdp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4.wdp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2.xml"/><Relationship Id="rId6" Type="http://schemas.microsoft.com/office/2007/relationships/hdphoto" Target="../media/hdphoto3.wdp"/><Relationship Id="rId5" Type="http://schemas.openxmlformats.org/officeDocument/2006/relationships/image" Target="../media/image16.png"/><Relationship Id="rId4" Type="http://schemas.microsoft.com/office/2007/relationships/hdphoto" Target="../media/hdphoto2.wdp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124735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37341816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17774754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268760"/>
            <a:ext cx="1080120" cy="223224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immer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07876"/>
            <a:ext cx="914400" cy="2193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789040"/>
            <a:ext cx="1080119" cy="24482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nie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immer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770883"/>
            <a:ext cx="914400" cy="2682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immer</a:t>
            </a:r>
          </a:p>
        </p:txBody>
      </p:sp>
      <p:pic>
        <p:nvPicPr>
          <p:cNvPr id="2" name="4411c">
            <a:extLst>
              <a:ext uri="{FF2B5EF4-FFF2-40B4-BE49-F238E27FC236}">
                <a16:creationId xmlns:a16="http://schemas.microsoft.com/office/drawing/2014/main" id="{B0268AAA-7A6B-A5CE-917E-8F016D5AC1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>
            <a:off x="11589663" y="2262706"/>
            <a:ext cx="3269412" cy="284929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4" name="4411c">
            <a:extLst>
              <a:ext uri="{FF2B5EF4-FFF2-40B4-BE49-F238E27FC236}">
                <a16:creationId xmlns:a16="http://schemas.microsoft.com/office/drawing/2014/main" id="{B8EE27DA-474E-6770-6C50-407FF1698E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 rot="10800000" flipV="1">
            <a:off x="-2538007" y="1268760"/>
            <a:ext cx="3269412" cy="362811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6" name="4411d">
            <a:extLst>
              <a:ext uri="{FF2B5EF4-FFF2-40B4-BE49-F238E27FC236}">
                <a16:creationId xmlns:a16="http://schemas.microsoft.com/office/drawing/2014/main" id="{0104D0A0-49A1-410A-5DC5-D7F171126C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 rot="10800000" flipV="1">
            <a:off x="12504711" y="1324579"/>
            <a:ext cx="1584177" cy="378322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8" name="4411d">
            <a:extLst>
              <a:ext uri="{FF2B5EF4-FFF2-40B4-BE49-F238E27FC236}">
                <a16:creationId xmlns:a16="http://schemas.microsoft.com/office/drawing/2014/main" id="{4EED2A4A-B094-419F-5DAB-91016A421F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>
            <a:off x="-2112912" y="2699964"/>
            <a:ext cx="1584177" cy="217815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9480346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left pole? What? Who? By When? Measures?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left pole.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right pole? What? Who? By When? Measures?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right pole.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2687555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linken Pol konzentrieren? Was? Wer? Bis wann? Maßnahmen?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rechten Pol konzentrieren? Was? Wer? Bis wann? Maßnahmen?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74914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4758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16933714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412776"/>
            <a:ext cx="1080120" cy="792088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98617"/>
            <a:ext cx="914400" cy="138231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645025"/>
            <a:ext cx="1080119" cy="1700762"/>
          </a:xfrm>
          <a:prstGeom prst="rect">
            <a:avLst/>
          </a:prstGeom>
        </p:spPr>
        <p:txBody>
          <a:bodyPr/>
          <a:lstStyle>
            <a:lvl1pPr marL="0" indent="0" algn="r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Fast immer -</a:t>
            </a:r>
            <a:br>
              <a:rPr lang="de-DE" dirty="0"/>
            </a:br>
            <a:r>
              <a:rPr lang="de-DE" dirty="0"/>
              <a:t>Oft - </a:t>
            </a:r>
            <a:br>
              <a:rPr lang="de-DE" dirty="0"/>
            </a:br>
            <a:r>
              <a:rPr lang="de-DE" dirty="0"/>
              <a:t>Manchmal - </a:t>
            </a:r>
            <a:br>
              <a:rPr lang="de-DE" dirty="0"/>
            </a:br>
            <a:r>
              <a:rPr lang="de-DE" dirty="0"/>
              <a:t>Selten -</a:t>
            </a: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645025"/>
            <a:ext cx="914400" cy="2088231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r>
              <a:rPr lang="de-DE" dirty="0"/>
              <a:t>- Fast immer</a:t>
            </a:r>
          </a:p>
        </p:txBody>
      </p:sp>
    </p:spTree>
    <p:extLst>
      <p:ext uri="{BB962C8B-B14F-4D97-AF65-F5344CB8AC3E}">
        <p14:creationId xmlns:p14="http://schemas.microsoft.com/office/powerpoint/2010/main" val="2188863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028FE132-736F-6AED-41D8-50D86B39541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991544" y="1268760"/>
            <a:ext cx="1080120" cy="2232248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immer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nie -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95B0B2A-4909-CE38-0248-A7169AA4DD1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20336" y="1307876"/>
            <a:ext cx="914400" cy="21931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immer 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nie 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3338EB78-F02B-6719-2DE8-47F6E5924FA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991544" y="3789040"/>
            <a:ext cx="1080119" cy="2448272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1050"/>
            </a:lvl1pPr>
          </a:lstStyle>
          <a:p>
            <a:pPr lvl="0"/>
            <a:r>
              <a:rPr lang="de-DE" dirty="0"/>
              <a:t>Fast nie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Selten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Manchmal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Oft –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Fast immer -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B3A0EE85-D62C-5501-D6B1-B1389A7979C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120336" y="3770883"/>
            <a:ext cx="914400" cy="268245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50"/>
            </a:lvl1pPr>
          </a:lstStyle>
          <a:p>
            <a:pPr lvl="0"/>
            <a:r>
              <a:rPr lang="de-DE" dirty="0"/>
              <a:t>- Fast nie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Selten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Manchmal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Oft </a:t>
            </a:r>
            <a:br>
              <a:rPr lang="de-DE" dirty="0"/>
            </a:br>
            <a:br>
              <a:rPr lang="de-DE" dirty="0"/>
            </a:br>
            <a:br>
              <a:rPr lang="de-DE" dirty="0"/>
            </a:br>
            <a:r>
              <a:rPr lang="de-DE" dirty="0"/>
              <a:t>- Fast immer</a:t>
            </a:r>
          </a:p>
        </p:txBody>
      </p:sp>
      <p:pic>
        <p:nvPicPr>
          <p:cNvPr id="2" name="4411c">
            <a:extLst>
              <a:ext uri="{FF2B5EF4-FFF2-40B4-BE49-F238E27FC236}">
                <a16:creationId xmlns:a16="http://schemas.microsoft.com/office/drawing/2014/main" id="{B0268AAA-7A6B-A5CE-917E-8F016D5AC16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>
            <a:off x="11589663" y="2262706"/>
            <a:ext cx="3269412" cy="2849298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4" name="4411c">
            <a:extLst>
              <a:ext uri="{FF2B5EF4-FFF2-40B4-BE49-F238E27FC236}">
                <a16:creationId xmlns:a16="http://schemas.microsoft.com/office/drawing/2014/main" id="{B8EE27DA-474E-6770-6C50-407FF1698E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1997" r="22315" b="29881"/>
          <a:stretch/>
        </p:blipFill>
        <p:spPr>
          <a:xfrm rot="10800000" flipV="1">
            <a:off x="-2538007" y="1268760"/>
            <a:ext cx="3269412" cy="3628115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6" name="4411d">
            <a:extLst>
              <a:ext uri="{FF2B5EF4-FFF2-40B4-BE49-F238E27FC236}">
                <a16:creationId xmlns:a16="http://schemas.microsoft.com/office/drawing/2014/main" id="{0104D0A0-49A1-410A-5DC5-D7F171126C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 rot="10800000" flipV="1">
            <a:off x="12504711" y="1324579"/>
            <a:ext cx="1584177" cy="3783221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  <p:pic>
        <p:nvPicPr>
          <p:cNvPr id="8" name="4411d">
            <a:extLst>
              <a:ext uri="{FF2B5EF4-FFF2-40B4-BE49-F238E27FC236}">
                <a16:creationId xmlns:a16="http://schemas.microsoft.com/office/drawing/2014/main" id="{4EED2A4A-B094-419F-5DAB-91016A421F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11500"/>
                    </a14:imgEffect>
                    <a14:imgEffect>
                      <a14:saturation sat="0"/>
                    </a14:imgEffect>
                    <a14:imgEffect>
                      <a14:brightnessContrast bright="-100000"/>
                    </a14:imgEffect>
                  </a14:imgLayer>
                </a14:imgProps>
              </a:ext>
            </a:extLst>
          </a:blip>
          <a:srcRect l="2213" t="4718" r="70802" b="29942"/>
          <a:stretch/>
        </p:blipFill>
        <p:spPr>
          <a:xfrm>
            <a:off x="-2112912" y="2699964"/>
            <a:ext cx="1584177" cy="2178152"/>
          </a:xfrm>
          <a:prstGeom prst="rect">
            <a:avLst/>
          </a:prstGeom>
          <a:solidFill>
            <a:schemeClr val="accent1">
              <a:alpha val="0"/>
            </a:schemeClr>
          </a:solidFill>
          <a:ln>
            <a:noFill/>
          </a:ln>
          <a:effectLst/>
        </p:spPr>
      </p:pic>
    </p:spTree>
    <p:extLst>
      <p:ext uri="{BB962C8B-B14F-4D97-AF65-F5344CB8AC3E}">
        <p14:creationId xmlns:p14="http://schemas.microsoft.com/office/powerpoint/2010/main" val="1437318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endParaRPr lang="de-DE" dirty="0"/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left pole? What? Who? By When? Measures?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left pole.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Maßnahmen</a:t>
            </a:r>
            <a:endParaRPr lang="en-US" sz="14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How will we gain or maintain the positive results from focusing on this right pole? What? Who? By When? Measures?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en-US" sz="1400" dirty="0" err="1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en-US" sz="1400" baseline="3000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en-US" sz="900" dirty="0">
                <a:solidFill>
                  <a:srgbClr val="7F7F7F"/>
                </a:solidFill>
                <a:latin typeface="Arial Narrow" pitchFamily="24" charset="0"/>
              </a:rPr>
              <a:t>Measurable indicators (things you can count) that will let you know that you are getting into the downside of this right pole.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1860260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extplatzhalter 45">
            <a:extLst>
              <a:ext uri="{FF2B5EF4-FFF2-40B4-BE49-F238E27FC236}">
                <a16:creationId xmlns:a16="http://schemas.microsoft.com/office/drawing/2014/main" id="{A5CBBD8E-484F-1D47-B704-E139A67B0B3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273360" y="694207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Übergeordnetes Ziel</a:t>
            </a:r>
          </a:p>
        </p:txBody>
      </p:sp>
      <p:sp>
        <p:nvSpPr>
          <p:cNvPr id="48" name="Textplatzhalter 47">
            <a:extLst>
              <a:ext uri="{FF2B5EF4-FFF2-40B4-BE49-F238E27FC236}">
                <a16:creationId xmlns:a16="http://schemas.microsoft.com/office/drawing/2014/main" id="{28EA9E19-E23A-CD78-318D-8619E56053B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273360" y="5503863"/>
            <a:ext cx="1632407" cy="65127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Schlimmster </a:t>
            </a:r>
            <a:br>
              <a:rPr lang="de-DE" dirty="0"/>
            </a:br>
            <a:r>
              <a:rPr lang="de-DE" dirty="0"/>
              <a:t>Fall</a:t>
            </a:r>
          </a:p>
        </p:txBody>
      </p:sp>
      <p:sp>
        <p:nvSpPr>
          <p:cNvPr id="50" name="Textplatzhalter 49">
            <a:extLst>
              <a:ext uri="{FF2B5EF4-FFF2-40B4-BE49-F238E27FC236}">
                <a16:creationId xmlns:a16="http://schemas.microsoft.com/office/drawing/2014/main" id="{54D2E613-8BD6-3D88-2EE2-A5017BDCE5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75963" y="3138986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1</a:t>
            </a:r>
          </a:p>
        </p:txBody>
      </p:sp>
      <p:sp>
        <p:nvSpPr>
          <p:cNvPr id="52" name="Textplatzhalter 51">
            <a:extLst>
              <a:ext uri="{FF2B5EF4-FFF2-40B4-BE49-F238E27FC236}">
                <a16:creationId xmlns:a16="http://schemas.microsoft.com/office/drawing/2014/main" id="{6D3D777B-C766-DB2F-C5D0-1EAF8C67CB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51012" y="3138985"/>
            <a:ext cx="1665027" cy="5595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Pol 2</a:t>
            </a:r>
          </a:p>
        </p:txBody>
      </p:sp>
      <p:sp>
        <p:nvSpPr>
          <p:cNvPr id="57" name="Textplatzhalter 56">
            <a:extLst>
              <a:ext uri="{FF2B5EF4-FFF2-40B4-BE49-F238E27FC236}">
                <a16:creationId xmlns:a16="http://schemas.microsoft.com/office/drawing/2014/main" id="{855A6438-8FF7-CCCC-505D-88D10CCE3C6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00400" y="1345484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59" name="Textplatzhalter 58">
            <a:extLst>
              <a:ext uri="{FF2B5EF4-FFF2-40B4-BE49-F238E27FC236}">
                <a16:creationId xmlns:a16="http://schemas.microsoft.com/office/drawing/2014/main" id="{6CAFCD02-9AF0-6F34-B684-CAC57A08163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00400" y="3723943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1" name="Textplatzhalter 60">
            <a:extLst>
              <a:ext uri="{FF2B5EF4-FFF2-40B4-BE49-F238E27FC236}">
                <a16:creationId xmlns:a16="http://schemas.microsoft.com/office/drawing/2014/main" id="{32AD7395-F14C-16BA-F059-7D63E9AE6CA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21400" y="1361358"/>
            <a:ext cx="2895600" cy="1702516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63" name="Textplatzhalter 62">
            <a:extLst>
              <a:ext uri="{FF2B5EF4-FFF2-40B4-BE49-F238E27FC236}">
                <a16:creationId xmlns:a16="http://schemas.microsoft.com/office/drawing/2014/main" id="{0DEFC4F5-006D-26A3-D5F1-FFF5229AE8D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121400" y="3725697"/>
            <a:ext cx="2895600" cy="1700762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2" name="AS UL">
            <a:extLst>
              <a:ext uri="{FF2B5EF4-FFF2-40B4-BE49-F238E27FC236}">
                <a16:creationId xmlns:a16="http://schemas.microsoft.com/office/drawing/2014/main" id="{AFB03888-6284-E186-493D-A5687CCFDF42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48237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linken Pol konzentrieren? Was? Wer? Bis wann? Maßnahmen? </a:t>
            </a:r>
          </a:p>
        </p:txBody>
      </p:sp>
      <p:sp>
        <p:nvSpPr>
          <p:cNvPr id="3" name="EW LL">
            <a:extLst>
              <a:ext uri="{FF2B5EF4-FFF2-40B4-BE49-F238E27FC236}">
                <a16:creationId xmlns:a16="http://schemas.microsoft.com/office/drawing/2014/main" id="{3EF2D68B-3E09-4488-A2C4-6E4037854D2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61310" y="3601665"/>
            <a:ext cx="2407397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4" name="AS UR">
            <a:extLst>
              <a:ext uri="{FF2B5EF4-FFF2-40B4-BE49-F238E27FC236}">
                <a16:creationId xmlns:a16="http://schemas.microsoft.com/office/drawing/2014/main" id="{376FB548-5542-A43E-3545-B1FD1C31E67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657225"/>
            <a:ext cx="2420471" cy="6051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Maßnahmen</a:t>
            </a:r>
          </a:p>
          <a:p>
            <a:pPr defTabSz="850292">
              <a:lnSpc>
                <a:spcPts val="971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Wie können wir positive Ergebnisse erzielen oder aufrechterhalten, wenn wir uns auf den rechten Pol konzentrieren? Was? Wer? Bis wann? Maßnahmen? </a:t>
            </a:r>
          </a:p>
        </p:txBody>
      </p:sp>
      <p:sp>
        <p:nvSpPr>
          <p:cNvPr id="5" name="EW LR">
            <a:extLst>
              <a:ext uri="{FF2B5EF4-FFF2-40B4-BE49-F238E27FC236}">
                <a16:creationId xmlns:a16="http://schemas.microsoft.com/office/drawing/2014/main" id="{2240B9B6-9FB7-03CA-2F96-DF3D82811A2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9323295" y="3601665"/>
            <a:ext cx="2420471" cy="58830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defTabSz="850292">
              <a:lnSpc>
                <a:spcPts val="1588"/>
              </a:lnSpc>
              <a:spcBef>
                <a:spcPct val="0"/>
              </a:spcBef>
            </a:pPr>
            <a:r>
              <a:rPr lang="de-DE" sz="1400" noProof="0" dirty="0">
                <a:solidFill>
                  <a:srgbClr val="7F7F7F"/>
                </a:solidFill>
                <a:latin typeface="Arial Narrow" pitchFamily="24" charset="0"/>
              </a:rPr>
              <a:t>Frühwarnsignale</a:t>
            </a:r>
            <a:endParaRPr lang="de-DE" sz="1400" baseline="30000" noProof="0" dirty="0">
              <a:solidFill>
                <a:srgbClr val="7F7F7F"/>
              </a:solidFill>
              <a:latin typeface="Arial Narrow" pitchFamily="24" charset="0"/>
            </a:endParaRPr>
          </a:p>
          <a:p>
            <a:pPr defTabSz="850292">
              <a:lnSpc>
                <a:spcPts val="882"/>
              </a:lnSpc>
              <a:spcBef>
                <a:spcPts val="353"/>
              </a:spcBef>
            </a:pPr>
            <a:r>
              <a:rPr lang="de-DE" sz="900" noProof="0" dirty="0">
                <a:solidFill>
                  <a:srgbClr val="7F7F7F"/>
                </a:solidFill>
                <a:latin typeface="Arial Narrow" pitchFamily="24" charset="0"/>
              </a:rPr>
              <a:t>Messbare Indikatoren (Dinge, die man zählen kann), die Ihnen zeigen, dass Sie sich dem unteren Ende dieses Pols nähern.</a:t>
            </a:r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A8CA5EF7-2A76-294C-117A-91596A9FFE3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48236" y="1361357"/>
            <a:ext cx="2587063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935F4FD1-54D5-23D9-ED88-0D74FABB585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61963" y="4305299"/>
            <a:ext cx="2573336" cy="212498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3AF581A-53DC-8680-600F-358F9A97AE7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23388" y="1347940"/>
            <a:ext cx="2587062" cy="2138397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3B8A24D6-5C1C-94CB-3D93-BA56D408064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23294" y="4305298"/>
            <a:ext cx="2587061" cy="2032001"/>
          </a:xfrm>
          <a:prstGeom prst="rect">
            <a:avLst/>
          </a:prstGeom>
        </p:spPr>
        <p:txBody>
          <a:bodyPr/>
          <a:lstStyle>
            <a:lvl1pPr>
              <a:buFont typeface="+mj-lt"/>
              <a:buAutoNum type="arabicPeriod"/>
              <a:defRPr sz="11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  <a:p>
            <a:pPr lvl="0"/>
            <a:r>
              <a:rPr lang="de-DE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980141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13" Type="http://schemas.openxmlformats.org/officeDocument/2006/relationships/image" Target="../media/image4.emf"/><Relationship Id="rId18" Type="http://schemas.openxmlformats.org/officeDocument/2006/relationships/image" Target="../media/image9.png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2.emf"/><Relationship Id="rId7" Type="http://schemas.openxmlformats.org/officeDocument/2006/relationships/theme" Target="../theme/theme1.xml"/><Relationship Id="rId12" Type="http://schemas.openxmlformats.org/officeDocument/2006/relationships/image" Target="../media/image3.emf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7.emf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6.emf"/><Relationship Id="rId23" Type="http://schemas.openxmlformats.org/officeDocument/2006/relationships/image" Target="../media/image14.emf"/><Relationship Id="rId10" Type="http://schemas.openxmlformats.org/officeDocument/2006/relationships/image" Target="../media/image1.emf"/><Relationship Id="rId19" Type="http://schemas.openxmlformats.org/officeDocument/2006/relationships/image" Target="../media/image10.png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Relationship Id="rId14" Type="http://schemas.openxmlformats.org/officeDocument/2006/relationships/image" Target="../media/image5.emf"/><Relationship Id="rId22" Type="http://schemas.openxmlformats.org/officeDocument/2006/relationships/image" Target="../media/image13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ags" Target="../tags/tag3.xml"/><Relationship Id="rId13" Type="http://schemas.openxmlformats.org/officeDocument/2006/relationships/image" Target="../media/image4.emf"/><Relationship Id="rId18" Type="http://schemas.openxmlformats.org/officeDocument/2006/relationships/image" Target="../media/image9.png"/><Relationship Id="rId3" Type="http://schemas.openxmlformats.org/officeDocument/2006/relationships/slideLayout" Target="../slideLayouts/slideLayout9.xml"/><Relationship Id="rId21" Type="http://schemas.openxmlformats.org/officeDocument/2006/relationships/image" Target="../media/image12.emf"/><Relationship Id="rId7" Type="http://schemas.openxmlformats.org/officeDocument/2006/relationships/theme" Target="../theme/theme2.xml"/><Relationship Id="rId12" Type="http://schemas.openxmlformats.org/officeDocument/2006/relationships/image" Target="../media/image3.emf"/><Relationship Id="rId17" Type="http://schemas.openxmlformats.org/officeDocument/2006/relationships/image" Target="../media/image8.png"/><Relationship Id="rId2" Type="http://schemas.openxmlformats.org/officeDocument/2006/relationships/slideLayout" Target="../slideLayouts/slideLayout8.xml"/><Relationship Id="rId16" Type="http://schemas.openxmlformats.org/officeDocument/2006/relationships/image" Target="../media/image7.emf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11" Type="http://schemas.openxmlformats.org/officeDocument/2006/relationships/image" Target="../media/image2.emf"/><Relationship Id="rId5" Type="http://schemas.openxmlformats.org/officeDocument/2006/relationships/slideLayout" Target="../slideLayouts/slideLayout11.xml"/><Relationship Id="rId15" Type="http://schemas.openxmlformats.org/officeDocument/2006/relationships/image" Target="../media/image6.emf"/><Relationship Id="rId23" Type="http://schemas.openxmlformats.org/officeDocument/2006/relationships/image" Target="../media/image14.emf"/><Relationship Id="rId10" Type="http://schemas.openxmlformats.org/officeDocument/2006/relationships/image" Target="../media/image1.emf"/><Relationship Id="rId19" Type="http://schemas.openxmlformats.org/officeDocument/2006/relationships/image" Target="../media/image10.png"/><Relationship Id="rId4" Type="http://schemas.openxmlformats.org/officeDocument/2006/relationships/slideLayout" Target="../slideLayouts/slideLayout10.xml"/><Relationship Id="rId9" Type="http://schemas.openxmlformats.org/officeDocument/2006/relationships/oleObject" Target="../embeddings/oleObject1.bin"/><Relationship Id="rId14" Type="http://schemas.openxmlformats.org/officeDocument/2006/relationships/image" Target="../media/image5.emf"/><Relationship Id="rId22" Type="http://schemas.openxmlformats.org/officeDocument/2006/relationships/image" Target="../media/image13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347C187-8FB1-30DF-C6CE-C76667FB19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89556713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9" imgW="7772400" imgH="10058400" progId="TCLayout.ActiveDocument.1">
                  <p:embed/>
                </p:oleObj>
              </mc:Choice>
              <mc:Fallback>
                <p:oleObj name="think-cell Folie" r:id="rId9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47C187-8FB1-30DF-C6CE-C76667FB19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Polarity Map Title">
            <a:extLst>
              <a:ext uri="{FF2B5EF4-FFF2-40B4-BE49-F238E27FC236}">
                <a16:creationId xmlns:a16="http://schemas.microsoft.com/office/drawing/2014/main" id="{8D26DAEB-53A6-4270-6404-29C583B42F6B}"/>
              </a:ext>
            </a:extLst>
          </p:cNvPr>
          <p:cNvGrpSpPr/>
          <p:nvPr userDrawn="1"/>
        </p:nvGrpSpPr>
        <p:grpSpPr>
          <a:xfrm>
            <a:off x="5084943" y="124325"/>
            <a:ext cx="2116991" cy="369332"/>
            <a:chOff x="3813707" y="124325"/>
            <a:chExt cx="1587743" cy="369332"/>
          </a:xfrm>
        </p:grpSpPr>
        <p:sp>
          <p:nvSpPr>
            <p:cNvPr id="10" name="Polarity Map">
              <a:extLst>
                <a:ext uri="{FF2B5EF4-FFF2-40B4-BE49-F238E27FC236}">
                  <a16:creationId xmlns:a16="http://schemas.microsoft.com/office/drawing/2014/main" id="{71712840-1076-032F-20F4-1F9999D90400}"/>
                </a:ext>
              </a:extLst>
            </p:cNvPr>
            <p:cNvSpPr txBox="1"/>
            <p:nvPr userDrawn="1"/>
          </p:nvSpPr>
          <p:spPr>
            <a:xfrm>
              <a:off x="3813707" y="124325"/>
              <a:ext cx="151341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ctr"/>
              <a:r>
                <a:rPr lang="en-US" sz="24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Polarity Map</a:t>
              </a:r>
            </a:p>
          </p:txBody>
        </p:sp>
        <p:sp>
          <p:nvSpPr>
            <p:cNvPr id="11" name="®">
              <a:extLst>
                <a:ext uri="{FF2B5EF4-FFF2-40B4-BE49-F238E27FC236}">
                  <a16:creationId xmlns:a16="http://schemas.microsoft.com/office/drawing/2014/main" id="{33DB996D-2865-742C-0294-4E18714BF673}"/>
                </a:ext>
              </a:extLst>
            </p:cNvPr>
            <p:cNvSpPr txBox="1"/>
            <p:nvPr userDrawn="1"/>
          </p:nvSpPr>
          <p:spPr>
            <a:xfrm>
              <a:off x="5254336" y="165345"/>
              <a:ext cx="147114" cy="205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®</a:t>
              </a:r>
            </a:p>
            <a:p>
              <a:pPr algn="ctr"/>
              <a:endParaRPr lang="en-US" sz="1000" b="0" i="0" dirty="0"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  <p:sp>
        <p:nvSpPr>
          <p:cNvPr id="12" name="Copyright">
            <a:extLst>
              <a:ext uri="{FF2B5EF4-FFF2-40B4-BE49-F238E27FC236}">
                <a16:creationId xmlns:a16="http://schemas.microsoft.com/office/drawing/2014/main" id="{78905AFA-943C-EF23-1AF8-89F62F585F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46223" y="5913669"/>
            <a:ext cx="2100157" cy="348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©2020 Barry Johnson and Polarity Partnerships, LLC. All rights reserved.</a:t>
            </a:r>
          </a:p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Commercial use encouraged with permission. </a:t>
            </a:r>
          </a:p>
        </p:txBody>
      </p:sp>
      <p:grpSp>
        <p:nvGrpSpPr>
          <p:cNvPr id="13" name="QUADS+GPS+DF (shadow FX)">
            <a:extLst>
              <a:ext uri="{FF2B5EF4-FFF2-40B4-BE49-F238E27FC236}">
                <a16:creationId xmlns:a16="http://schemas.microsoft.com/office/drawing/2014/main" id="{E4C72B2D-1461-9D6A-7CD4-A27503E446E0}"/>
              </a:ext>
            </a:extLst>
          </p:cNvPr>
          <p:cNvGrpSpPr/>
          <p:nvPr userDrawn="1"/>
        </p:nvGrpSpPr>
        <p:grpSpPr>
          <a:xfrm>
            <a:off x="3138467" y="674489"/>
            <a:ext cx="5915068" cy="5507863"/>
            <a:chOff x="2353850" y="674489"/>
            <a:chExt cx="4436301" cy="5507863"/>
          </a:xfr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grpSpPr>
        <p:pic>
          <p:nvPicPr>
            <p:cNvPr id="14" name="UL">
              <a:extLst>
                <a:ext uri="{FF2B5EF4-FFF2-40B4-BE49-F238E27FC236}">
                  <a16:creationId xmlns:a16="http://schemas.microsoft.com/office/drawing/2014/main" id="{3FFF336E-1C94-00E4-D869-0C1D25745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53850" y="1013198"/>
              <a:ext cx="2224024" cy="2425192"/>
            </a:xfrm>
            <a:prstGeom prst="rect">
              <a:avLst/>
            </a:prstGeom>
          </p:spPr>
        </p:pic>
        <p:pic>
          <p:nvPicPr>
            <p:cNvPr id="15" name="UR">
              <a:extLst>
                <a:ext uri="{FF2B5EF4-FFF2-40B4-BE49-F238E27FC236}">
                  <a16:creationId xmlns:a16="http://schemas.microsoft.com/office/drawing/2014/main" id="{48E0A1E1-BAA3-DD28-C4D6-D8D83F199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566127" y="1013198"/>
              <a:ext cx="2224024" cy="2425192"/>
            </a:xfrm>
            <a:prstGeom prst="rect">
              <a:avLst/>
            </a:prstGeom>
          </p:spPr>
        </p:pic>
        <p:pic>
          <p:nvPicPr>
            <p:cNvPr id="16" name="LL">
              <a:extLst>
                <a:ext uri="{FF2B5EF4-FFF2-40B4-BE49-F238E27FC236}">
                  <a16:creationId xmlns:a16="http://schemas.microsoft.com/office/drawing/2014/main" id="{B7E2AC33-E3C1-DE6C-4E0A-4C7CEB428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353850" y="3426198"/>
              <a:ext cx="2224024" cy="2425192"/>
            </a:xfrm>
            <a:prstGeom prst="rect">
              <a:avLst/>
            </a:prstGeom>
          </p:spPr>
        </p:pic>
        <p:pic>
          <p:nvPicPr>
            <p:cNvPr id="17" name="LR">
              <a:extLst>
                <a:ext uri="{FF2B5EF4-FFF2-40B4-BE49-F238E27FC236}">
                  <a16:creationId xmlns:a16="http://schemas.microsoft.com/office/drawing/2014/main" id="{9A36D368-5C8C-75E2-0F92-5722C51A3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66127" y="3426198"/>
              <a:ext cx="2224024" cy="2425192"/>
            </a:xfrm>
            <a:prstGeom prst="rect">
              <a:avLst/>
            </a:prstGeom>
          </p:spPr>
        </p:pic>
        <p:pic>
          <p:nvPicPr>
            <p:cNvPr id="18" name="GPS">
              <a:extLst>
                <a:ext uri="{FF2B5EF4-FFF2-40B4-BE49-F238E27FC236}">
                  <a16:creationId xmlns:a16="http://schemas.microsoft.com/office/drawing/2014/main" id="{9C6B6AFA-BE92-71E9-3970-EF3E48FA5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932143" y="674489"/>
              <a:ext cx="1285240" cy="681736"/>
            </a:xfrm>
            <a:prstGeom prst="rect">
              <a:avLst/>
            </a:prstGeom>
          </p:spPr>
        </p:pic>
        <p:pic>
          <p:nvPicPr>
            <p:cNvPr id="19" name="DF">
              <a:extLst>
                <a:ext uri="{FF2B5EF4-FFF2-40B4-BE49-F238E27FC236}">
                  <a16:creationId xmlns:a16="http://schemas.microsoft.com/office/drawing/2014/main" id="{DB202411-6B4E-F8D3-6DF0-56B931BA0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932143" y="5500616"/>
              <a:ext cx="1285240" cy="681736"/>
            </a:xfrm>
            <a:prstGeom prst="rect">
              <a:avLst/>
            </a:prstGeom>
          </p:spPr>
        </p:pic>
      </p:grpSp>
      <p:sp>
        <p:nvSpPr>
          <p:cNvPr id="20" name="UL">
            <a:extLst>
              <a:ext uri="{FF2B5EF4-FFF2-40B4-BE49-F238E27FC236}">
                <a16:creationId xmlns:a16="http://schemas.microsoft.com/office/drawing/2014/main" id="{E106D8E0-3803-68BE-EEED-DB05849271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1071562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linken Pol fokussieren</a:t>
            </a:r>
          </a:p>
        </p:txBody>
      </p:sp>
      <p:sp>
        <p:nvSpPr>
          <p:cNvPr id="24" name="TEXT GPS reminder">
            <a:extLst>
              <a:ext uri="{FF2B5EF4-FFF2-40B4-BE49-F238E27FC236}">
                <a16:creationId xmlns:a16="http://schemas.microsoft.com/office/drawing/2014/main" id="{1ACC7354-0393-6F69-BCB7-E54036A243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77358" y="774716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25" name="TEXT DF reminder">
            <a:extLst>
              <a:ext uri="{FF2B5EF4-FFF2-40B4-BE49-F238E27FC236}">
                <a16:creationId xmlns:a16="http://schemas.microsoft.com/office/drawing/2014/main" id="{C920E0AB-7F08-9835-011A-BA7069646B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60725" y="5909642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Schlimmster  Fall: Was passiert, wenn wir die beiden Pole nicht integrieren können?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pic>
        <p:nvPicPr>
          <p:cNvPr id="26" name="4411a">
            <a:extLst>
              <a:ext uri="{FF2B5EF4-FFF2-40B4-BE49-F238E27FC236}">
                <a16:creationId xmlns:a16="http://schemas.microsoft.com/office/drawing/2014/main" id="{70977BBE-A35A-6653-5515-6F6B90C7F5CA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7" name="4411b">
            <a:extLst>
              <a:ext uri="{FF2B5EF4-FFF2-40B4-BE49-F238E27FC236}">
                <a16:creationId xmlns:a16="http://schemas.microsoft.com/office/drawing/2014/main" id="{E427DE7A-C120-BD45-69E8-0A93F206AD79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8" name="4411c">
            <a:extLst>
              <a:ext uri="{FF2B5EF4-FFF2-40B4-BE49-F238E27FC236}">
                <a16:creationId xmlns:a16="http://schemas.microsoft.com/office/drawing/2014/main" id="{805253A9-BF3B-AAA9-B800-D65A46B8C0A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9" name="4411d">
            <a:extLst>
              <a:ext uri="{FF2B5EF4-FFF2-40B4-BE49-F238E27FC236}">
                <a16:creationId xmlns:a16="http://schemas.microsoft.com/office/drawing/2014/main" id="{39421C68-DCAA-F89B-898D-40EE366A62F0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30" name="And">
            <a:extLst>
              <a:ext uri="{FF2B5EF4-FFF2-40B4-BE49-F238E27FC236}">
                <a16:creationId xmlns:a16="http://schemas.microsoft.com/office/drawing/2014/main" id="{0ED42906-4745-1806-7E55-D0D3CE772EE7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5790523" y="3305484"/>
            <a:ext cx="610955" cy="245872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31" name="And TEXT">
            <a:extLst>
              <a:ext uri="{FF2B5EF4-FFF2-40B4-BE49-F238E27FC236}">
                <a16:creationId xmlns:a16="http://schemas.microsoft.com/office/drawing/2014/main" id="{3234A801-5C18-1ADC-97F5-459573A7D4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790523" y="3313155"/>
            <a:ext cx="607305" cy="245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15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</a:t>
            </a:r>
          </a:p>
        </p:txBody>
      </p:sp>
      <p:pic>
        <p:nvPicPr>
          <p:cNvPr id="32" name="LP">
            <a:extLst>
              <a:ext uri="{FF2B5EF4-FFF2-40B4-BE49-F238E27FC236}">
                <a16:creationId xmlns:a16="http://schemas.microsoft.com/office/drawing/2014/main" id="{BFDA94D3-97E0-7F0A-2ACA-2CFB3408FB3D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856398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33" name="RP">
            <a:extLst>
              <a:ext uri="{FF2B5EF4-FFF2-40B4-BE49-F238E27FC236}">
                <a16:creationId xmlns:a16="http://schemas.microsoft.com/office/drawing/2014/main" id="{C249E82D-34C9-B6E3-E259-289C64F60F32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6621950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46" name="Textplatzhalter 6">
            <a:extLst>
              <a:ext uri="{FF2B5EF4-FFF2-40B4-BE49-F238E27FC236}">
                <a16:creationId xmlns:a16="http://schemas.microsoft.com/office/drawing/2014/main" id="{D88D4C87-4FAE-D68D-8FAD-18832523B922}"/>
              </a:ext>
            </a:extLst>
          </p:cNvPr>
          <p:cNvSpPr txBox="1">
            <a:spLocks/>
          </p:cNvSpPr>
          <p:nvPr userDrawn="1"/>
        </p:nvSpPr>
        <p:spPr>
          <a:xfrm>
            <a:off x="3160712" y="1354137"/>
            <a:ext cx="2762567" cy="1672869"/>
          </a:xfrm>
          <a:prstGeom prst="rect">
            <a:avLst/>
          </a:prstGeom>
        </p:spPr>
        <p:txBody>
          <a:bodyPr>
            <a:noAutofit/>
          </a:bodyPr>
          <a:lstStyle>
            <a:lvl1pPr marL="136525" indent="-136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tabLst/>
              <a:defRPr sz="1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2" name="UL">
            <a:extLst>
              <a:ext uri="{FF2B5EF4-FFF2-40B4-BE49-F238E27FC236}">
                <a16:creationId xmlns:a16="http://schemas.microsoft.com/office/drawing/2014/main" id="{95AC253B-95AC-EE5D-D031-5AB2C048A8E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50607" y="1044964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rechten Pol fokussieren</a:t>
            </a:r>
          </a:p>
        </p:txBody>
      </p:sp>
      <p:sp>
        <p:nvSpPr>
          <p:cNvPr id="3" name="TEXT GPS reminder">
            <a:extLst>
              <a:ext uri="{FF2B5EF4-FFF2-40B4-BE49-F238E27FC236}">
                <a16:creationId xmlns:a16="http://schemas.microsoft.com/office/drawing/2014/main" id="{35967715-63ED-FC87-AD7F-3B822358C5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6626" y="775414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5" name="UL">
            <a:extLst>
              <a:ext uri="{FF2B5EF4-FFF2-40B4-BE49-F238E27FC236}">
                <a16:creationId xmlns:a16="http://schemas.microsoft.com/office/drawing/2014/main" id="{D6996D85-FB10-CD8A-0CB4-4FB6D7BFC6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055210" y="5501745"/>
            <a:ext cx="1962621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rechten Pol zu Lasten des linken Pols fokussieren</a:t>
            </a:r>
          </a:p>
        </p:txBody>
      </p:sp>
      <p:sp>
        <p:nvSpPr>
          <p:cNvPr id="6" name="UL">
            <a:extLst>
              <a:ext uri="{FF2B5EF4-FFF2-40B4-BE49-F238E27FC236}">
                <a16:creationId xmlns:a16="http://schemas.microsoft.com/office/drawing/2014/main" id="{91B0B13F-B8BA-EEA3-1195-2FF7130A93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5488097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linken Pol zu Lasten des rechten Pols fokussieren</a:t>
            </a:r>
          </a:p>
        </p:txBody>
      </p:sp>
    </p:spTree>
    <p:extLst>
      <p:ext uri="{BB962C8B-B14F-4D97-AF65-F5344CB8AC3E}">
        <p14:creationId xmlns:p14="http://schemas.microsoft.com/office/powerpoint/2010/main" val="27895120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5" r:id="rId3"/>
    <p:sldLayoutId id="2147483673" r:id="rId4"/>
    <p:sldLayoutId id="2147483674" r:id="rId5"/>
    <p:sldLayoutId id="214748367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B347C187-8FB1-30DF-C6CE-C76667FB19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895567132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Folie" r:id="rId9" imgW="7772400" imgH="10058400" progId="TCLayout.ActiveDocument.1">
                  <p:embed/>
                </p:oleObj>
              </mc:Choice>
              <mc:Fallback>
                <p:oleObj name="think-cell Folie" r:id="rId9" imgW="7772400" imgH="1005840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347C187-8FB1-30DF-C6CE-C76667FB19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Polarity Map Title">
            <a:extLst>
              <a:ext uri="{FF2B5EF4-FFF2-40B4-BE49-F238E27FC236}">
                <a16:creationId xmlns:a16="http://schemas.microsoft.com/office/drawing/2014/main" id="{8D26DAEB-53A6-4270-6404-29C583B42F6B}"/>
              </a:ext>
            </a:extLst>
          </p:cNvPr>
          <p:cNvGrpSpPr/>
          <p:nvPr userDrawn="1"/>
        </p:nvGrpSpPr>
        <p:grpSpPr>
          <a:xfrm>
            <a:off x="5084943" y="124325"/>
            <a:ext cx="2116991" cy="369332"/>
            <a:chOff x="3813707" y="124325"/>
            <a:chExt cx="1587743" cy="369332"/>
          </a:xfrm>
        </p:grpSpPr>
        <p:sp>
          <p:nvSpPr>
            <p:cNvPr id="10" name="Polarity Map">
              <a:extLst>
                <a:ext uri="{FF2B5EF4-FFF2-40B4-BE49-F238E27FC236}">
                  <a16:creationId xmlns:a16="http://schemas.microsoft.com/office/drawing/2014/main" id="{71712840-1076-032F-20F4-1F9999D90400}"/>
                </a:ext>
              </a:extLst>
            </p:cNvPr>
            <p:cNvSpPr txBox="1"/>
            <p:nvPr userDrawn="1"/>
          </p:nvSpPr>
          <p:spPr>
            <a:xfrm>
              <a:off x="3813707" y="124325"/>
              <a:ext cx="1513410" cy="3693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/>
            <a:p>
              <a:pPr lvl="0" algn="ctr"/>
              <a:r>
                <a:rPr lang="en-US" sz="24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Polarity Map</a:t>
              </a:r>
            </a:p>
          </p:txBody>
        </p:sp>
        <p:sp>
          <p:nvSpPr>
            <p:cNvPr id="11" name="®">
              <a:extLst>
                <a:ext uri="{FF2B5EF4-FFF2-40B4-BE49-F238E27FC236}">
                  <a16:creationId xmlns:a16="http://schemas.microsoft.com/office/drawing/2014/main" id="{33DB996D-2865-742C-0294-4E18714BF673}"/>
                </a:ext>
              </a:extLst>
            </p:cNvPr>
            <p:cNvSpPr txBox="1"/>
            <p:nvPr userDrawn="1"/>
          </p:nvSpPr>
          <p:spPr>
            <a:xfrm>
              <a:off x="5254336" y="165345"/>
              <a:ext cx="147114" cy="20565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000" b="0" i="0" dirty="0">
                  <a:latin typeface="Arial Narrow" panose="020B0604020202020204" pitchFamily="34" charset="0"/>
                  <a:cs typeface="Arial Narrow" panose="020B0604020202020204" pitchFamily="34" charset="0"/>
                </a:rPr>
                <a:t>®</a:t>
              </a:r>
            </a:p>
            <a:p>
              <a:pPr algn="ctr"/>
              <a:endParaRPr lang="en-US" sz="1000" b="0" i="0" dirty="0">
                <a:latin typeface="Arial Narrow" panose="020B0604020202020204" pitchFamily="34" charset="0"/>
                <a:cs typeface="Arial Narrow" panose="020B0604020202020204" pitchFamily="34" charset="0"/>
              </a:endParaRPr>
            </a:p>
          </p:txBody>
        </p:sp>
      </p:grpSp>
      <p:sp>
        <p:nvSpPr>
          <p:cNvPr id="12" name="Copyright">
            <a:extLst>
              <a:ext uri="{FF2B5EF4-FFF2-40B4-BE49-F238E27FC236}">
                <a16:creationId xmlns:a16="http://schemas.microsoft.com/office/drawing/2014/main" id="{78905AFA-943C-EF23-1AF8-89F62F585F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46223" y="5913669"/>
            <a:ext cx="2100157" cy="3481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5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©2020 Barry Johnson and Polarity Partnerships, LLC. All rights reserved.</a:t>
            </a:r>
          </a:p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lang="en-US" sz="700" dirty="0">
                <a:solidFill>
                  <a:srgbClr val="929292"/>
                </a:solidFill>
                <a:latin typeface="Arial Narrow" pitchFamily="24" charset="0"/>
              </a:rPr>
              <a:t>Commercial use encouraged with permission. </a:t>
            </a:r>
          </a:p>
        </p:txBody>
      </p:sp>
      <p:grpSp>
        <p:nvGrpSpPr>
          <p:cNvPr id="13" name="QUADS+GPS+DF (shadow FX)">
            <a:extLst>
              <a:ext uri="{FF2B5EF4-FFF2-40B4-BE49-F238E27FC236}">
                <a16:creationId xmlns:a16="http://schemas.microsoft.com/office/drawing/2014/main" id="{E4C72B2D-1461-9D6A-7CD4-A27503E446E0}"/>
              </a:ext>
            </a:extLst>
          </p:cNvPr>
          <p:cNvGrpSpPr/>
          <p:nvPr userDrawn="1"/>
        </p:nvGrpSpPr>
        <p:grpSpPr>
          <a:xfrm>
            <a:off x="3138467" y="674489"/>
            <a:ext cx="5915068" cy="5507863"/>
            <a:chOff x="2353850" y="674489"/>
            <a:chExt cx="4436301" cy="5507863"/>
          </a:xfr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grpSpPr>
        <p:pic>
          <p:nvPicPr>
            <p:cNvPr id="14" name="UL">
              <a:extLst>
                <a:ext uri="{FF2B5EF4-FFF2-40B4-BE49-F238E27FC236}">
                  <a16:creationId xmlns:a16="http://schemas.microsoft.com/office/drawing/2014/main" id="{3FFF336E-1C94-00E4-D869-0C1D257450B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2353850" y="1013198"/>
              <a:ext cx="2224024" cy="2425192"/>
            </a:xfrm>
            <a:prstGeom prst="rect">
              <a:avLst/>
            </a:prstGeom>
          </p:spPr>
        </p:pic>
        <p:pic>
          <p:nvPicPr>
            <p:cNvPr id="15" name="UR">
              <a:extLst>
                <a:ext uri="{FF2B5EF4-FFF2-40B4-BE49-F238E27FC236}">
                  <a16:creationId xmlns:a16="http://schemas.microsoft.com/office/drawing/2014/main" id="{48E0A1E1-BAA3-DD28-C4D6-D8D83F1997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4566127" y="1013198"/>
              <a:ext cx="2224024" cy="2425192"/>
            </a:xfrm>
            <a:prstGeom prst="rect">
              <a:avLst/>
            </a:prstGeom>
          </p:spPr>
        </p:pic>
        <p:pic>
          <p:nvPicPr>
            <p:cNvPr id="16" name="LL">
              <a:extLst>
                <a:ext uri="{FF2B5EF4-FFF2-40B4-BE49-F238E27FC236}">
                  <a16:creationId xmlns:a16="http://schemas.microsoft.com/office/drawing/2014/main" id="{B7E2AC33-E3C1-DE6C-4E0A-4C7CEB428E24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2353850" y="3426198"/>
              <a:ext cx="2224024" cy="2425192"/>
            </a:xfrm>
            <a:prstGeom prst="rect">
              <a:avLst/>
            </a:prstGeom>
          </p:spPr>
        </p:pic>
        <p:pic>
          <p:nvPicPr>
            <p:cNvPr id="17" name="LR">
              <a:extLst>
                <a:ext uri="{FF2B5EF4-FFF2-40B4-BE49-F238E27FC236}">
                  <a16:creationId xmlns:a16="http://schemas.microsoft.com/office/drawing/2014/main" id="{9A36D368-5C8C-75E2-0F92-5722C51A32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4566127" y="3426198"/>
              <a:ext cx="2224024" cy="2425192"/>
            </a:xfrm>
            <a:prstGeom prst="rect">
              <a:avLst/>
            </a:prstGeom>
          </p:spPr>
        </p:pic>
        <p:pic>
          <p:nvPicPr>
            <p:cNvPr id="18" name="GPS">
              <a:extLst>
                <a:ext uri="{FF2B5EF4-FFF2-40B4-BE49-F238E27FC236}">
                  <a16:creationId xmlns:a16="http://schemas.microsoft.com/office/drawing/2014/main" id="{9C6B6AFA-BE92-71E9-3970-EF3E48FA5A0F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932143" y="674489"/>
              <a:ext cx="1285240" cy="681736"/>
            </a:xfrm>
            <a:prstGeom prst="rect">
              <a:avLst/>
            </a:prstGeom>
          </p:spPr>
        </p:pic>
        <p:pic>
          <p:nvPicPr>
            <p:cNvPr id="19" name="DF">
              <a:extLst>
                <a:ext uri="{FF2B5EF4-FFF2-40B4-BE49-F238E27FC236}">
                  <a16:creationId xmlns:a16="http://schemas.microsoft.com/office/drawing/2014/main" id="{DB202411-6B4E-F8D3-6DF0-56B931BA05A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3932143" y="5500616"/>
              <a:ext cx="1285240" cy="681736"/>
            </a:xfrm>
            <a:prstGeom prst="rect">
              <a:avLst/>
            </a:prstGeom>
          </p:spPr>
        </p:pic>
      </p:grpSp>
      <p:sp>
        <p:nvSpPr>
          <p:cNvPr id="20" name="UL">
            <a:extLst>
              <a:ext uri="{FF2B5EF4-FFF2-40B4-BE49-F238E27FC236}">
                <a16:creationId xmlns:a16="http://schemas.microsoft.com/office/drawing/2014/main" id="{E106D8E0-3803-68BE-EEED-DB05849271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1071562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linken Pol fokussieren</a:t>
            </a:r>
          </a:p>
        </p:txBody>
      </p:sp>
      <p:sp>
        <p:nvSpPr>
          <p:cNvPr id="24" name="TEXT GPS reminder">
            <a:extLst>
              <a:ext uri="{FF2B5EF4-FFF2-40B4-BE49-F238E27FC236}">
                <a16:creationId xmlns:a16="http://schemas.microsoft.com/office/drawing/2014/main" id="{1ACC7354-0393-6F69-BCB7-E54036A2430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77358" y="774716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25" name="TEXT DF reminder">
            <a:extLst>
              <a:ext uri="{FF2B5EF4-FFF2-40B4-BE49-F238E27FC236}">
                <a16:creationId xmlns:a16="http://schemas.microsoft.com/office/drawing/2014/main" id="{C920E0AB-7F08-9835-011A-BA7069646B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60725" y="5909642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l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Schlimmster  Fall: Was passiert, wenn wir die beiden Pole nicht integrieren können?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pic>
        <p:nvPicPr>
          <p:cNvPr id="26" name="4411a">
            <a:extLst>
              <a:ext uri="{FF2B5EF4-FFF2-40B4-BE49-F238E27FC236}">
                <a16:creationId xmlns:a16="http://schemas.microsoft.com/office/drawing/2014/main" id="{70977BBE-A35A-6653-5515-6F6B90C7F5CA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7" name="4411b">
            <a:extLst>
              <a:ext uri="{FF2B5EF4-FFF2-40B4-BE49-F238E27FC236}">
                <a16:creationId xmlns:a16="http://schemas.microsoft.com/office/drawing/2014/main" id="{E427DE7A-C120-BD45-69E8-0A93F206AD79}"/>
              </a:ext>
            </a:extLst>
          </p:cNvPr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8" name="4411c">
            <a:extLst>
              <a:ext uri="{FF2B5EF4-FFF2-40B4-BE49-F238E27FC236}">
                <a16:creationId xmlns:a16="http://schemas.microsoft.com/office/drawing/2014/main" id="{805253A9-BF3B-AAA9-B800-D65A46B8C0A8}"/>
              </a:ext>
            </a:extLst>
          </p:cNvPr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29" name="4411d">
            <a:extLst>
              <a:ext uri="{FF2B5EF4-FFF2-40B4-BE49-F238E27FC236}">
                <a16:creationId xmlns:a16="http://schemas.microsoft.com/office/drawing/2014/main" id="{39421C68-DCAA-F89B-898D-40EE366A62F0}"/>
              </a:ext>
            </a:extLst>
          </p:cNvPr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3160523" y="1162804"/>
            <a:ext cx="5870956" cy="4531233"/>
          </a:xfrm>
          <a:prstGeom prst="rect">
            <a:avLst/>
          </a:prstGeom>
        </p:spPr>
      </p:pic>
      <p:pic>
        <p:nvPicPr>
          <p:cNvPr id="30" name="And">
            <a:extLst>
              <a:ext uri="{FF2B5EF4-FFF2-40B4-BE49-F238E27FC236}">
                <a16:creationId xmlns:a16="http://schemas.microsoft.com/office/drawing/2014/main" id="{0ED42906-4745-1806-7E55-D0D3CE772EE7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5790523" y="3305484"/>
            <a:ext cx="610955" cy="245872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31" name="And TEXT">
            <a:extLst>
              <a:ext uri="{FF2B5EF4-FFF2-40B4-BE49-F238E27FC236}">
                <a16:creationId xmlns:a16="http://schemas.microsoft.com/office/drawing/2014/main" id="{3234A801-5C18-1ADC-97F5-459573A7D48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790523" y="3313155"/>
            <a:ext cx="607305" cy="2458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tIns="0" rIns="0" bIns="0" anchor="ctr" anchorCtr="0">
            <a:prstTxWarp prst="textNoShape">
              <a:avLst/>
            </a:prstTxWarp>
            <a:noAutofit/>
          </a:bodyPr>
          <a:lstStyle/>
          <a:p>
            <a:pPr algn="ctr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sz="1500" i="1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</a:t>
            </a:r>
          </a:p>
        </p:txBody>
      </p:sp>
      <p:pic>
        <p:nvPicPr>
          <p:cNvPr id="32" name="LP">
            <a:extLst>
              <a:ext uri="{FF2B5EF4-FFF2-40B4-BE49-F238E27FC236}">
                <a16:creationId xmlns:a16="http://schemas.microsoft.com/office/drawing/2014/main" id="{BFDA94D3-97E0-7F0A-2ACA-2CFB3408FB3D}"/>
              </a:ext>
            </a:extLst>
          </p:cNvPr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856398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pic>
        <p:nvPicPr>
          <p:cNvPr id="33" name="RP">
            <a:extLst>
              <a:ext uri="{FF2B5EF4-FFF2-40B4-BE49-F238E27FC236}">
                <a16:creationId xmlns:a16="http://schemas.microsoft.com/office/drawing/2014/main" id="{C249E82D-34C9-B6E3-E259-289C64F60F32}"/>
              </a:ext>
            </a:extLst>
          </p:cNvPr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6621950" y="3087552"/>
            <a:ext cx="1713653" cy="681736"/>
          </a:xfrm>
          <a:prstGeom prst="rect">
            <a:avLst/>
          </a:prstGeom>
          <a:effectLst>
            <a:outerShdw blurRad="152400" dist="76200" dir="2700000" algn="ctr" rotWithShape="0">
              <a:srgbClr val="000000">
                <a:alpha val="40000"/>
              </a:srgbClr>
            </a:outerShdw>
          </a:effectLst>
        </p:spPr>
      </p:pic>
      <p:sp>
        <p:nvSpPr>
          <p:cNvPr id="46" name="Textplatzhalter 6">
            <a:extLst>
              <a:ext uri="{FF2B5EF4-FFF2-40B4-BE49-F238E27FC236}">
                <a16:creationId xmlns:a16="http://schemas.microsoft.com/office/drawing/2014/main" id="{D88D4C87-4FAE-D68D-8FAD-18832523B922}"/>
              </a:ext>
            </a:extLst>
          </p:cNvPr>
          <p:cNvSpPr txBox="1">
            <a:spLocks/>
          </p:cNvSpPr>
          <p:nvPr userDrawn="1"/>
        </p:nvSpPr>
        <p:spPr>
          <a:xfrm>
            <a:off x="3160712" y="1354137"/>
            <a:ext cx="2762567" cy="1672869"/>
          </a:xfrm>
          <a:prstGeom prst="rect">
            <a:avLst/>
          </a:prstGeom>
        </p:spPr>
        <p:txBody>
          <a:bodyPr>
            <a:noAutofit/>
          </a:bodyPr>
          <a:lstStyle>
            <a:lvl1pPr marL="136525" indent="-13652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+mj-lt"/>
              <a:buAutoNum type="arabicPeriod"/>
              <a:tabLst/>
              <a:defRPr sz="1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+mj-lt"/>
              <a:buAutoNum type="arabicPeriod"/>
              <a:defRPr sz="1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de-DE" dirty="0"/>
          </a:p>
        </p:txBody>
      </p:sp>
      <p:sp>
        <p:nvSpPr>
          <p:cNvPr id="2" name="UL">
            <a:extLst>
              <a:ext uri="{FF2B5EF4-FFF2-40B4-BE49-F238E27FC236}">
                <a16:creationId xmlns:a16="http://schemas.microsoft.com/office/drawing/2014/main" id="{95AC253B-95AC-EE5D-D031-5AB2C048A8E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50607" y="1044964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Positive Effekte/Vorteile, wenn wir uns auf den rechten Pol fokussieren</a:t>
            </a:r>
          </a:p>
        </p:txBody>
      </p:sp>
      <p:sp>
        <p:nvSpPr>
          <p:cNvPr id="3" name="TEXT GPS reminder">
            <a:extLst>
              <a:ext uri="{FF2B5EF4-FFF2-40B4-BE49-F238E27FC236}">
                <a16:creationId xmlns:a16="http://schemas.microsoft.com/office/drawing/2014/main" id="{35967715-63ED-FC87-AD7F-3B822358C53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16626" y="775414"/>
            <a:ext cx="1921276" cy="2722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algn="r">
              <a:lnSpc>
                <a:spcPct val="85000"/>
              </a:lnSpc>
              <a:spcBef>
                <a:spcPct val="0"/>
              </a:spcBef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rgbClr val="7F7F7F"/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Übergeordnetes Ziel: Angenommen, wir integrieren beide Pole ideal? </a:t>
            </a:r>
            <a:endParaRPr lang="de-DE" sz="900" noProof="0" dirty="0">
              <a:solidFill>
                <a:srgbClr val="7F7F7F"/>
              </a:solidFill>
              <a:latin typeface="Arial Narrow" pitchFamily="24" charset="0"/>
            </a:endParaRPr>
          </a:p>
        </p:txBody>
      </p:sp>
      <p:sp>
        <p:nvSpPr>
          <p:cNvPr id="5" name="UL">
            <a:extLst>
              <a:ext uri="{FF2B5EF4-FFF2-40B4-BE49-F238E27FC236}">
                <a16:creationId xmlns:a16="http://schemas.microsoft.com/office/drawing/2014/main" id="{D6996D85-FB10-CD8A-0CB4-4FB6D7BFC6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055210" y="5501745"/>
            <a:ext cx="1962621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rechten Pol zu Lasten des linken Pols fokussieren</a:t>
            </a:r>
          </a:p>
        </p:txBody>
      </p:sp>
      <p:sp>
        <p:nvSpPr>
          <p:cNvPr id="6" name="UL">
            <a:extLst>
              <a:ext uri="{FF2B5EF4-FFF2-40B4-BE49-F238E27FC236}">
                <a16:creationId xmlns:a16="http://schemas.microsoft.com/office/drawing/2014/main" id="{91B0B13F-B8BA-EEA3-1195-2FF7130A939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181939" y="5488097"/>
            <a:ext cx="2060919" cy="2220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900" b="0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alpha val="45000"/>
                  </a:schemeClr>
                </a:solidFill>
                <a:effectLst/>
                <a:uLnTx/>
                <a:uFillTx/>
                <a:latin typeface="Arial Narrow" pitchFamily="24" charset="0"/>
                <a:ea typeface="+mn-ea"/>
                <a:cs typeface="+mn-cs"/>
              </a:rPr>
              <a:t>Negative Effekte/Nachteile, wenn wir uns übermäßig auf den linken Pol zu Lasten des rechten Pols fokussieren</a:t>
            </a:r>
          </a:p>
        </p:txBody>
      </p:sp>
    </p:spTree>
    <p:extLst>
      <p:ext uri="{BB962C8B-B14F-4D97-AF65-F5344CB8AC3E}">
        <p14:creationId xmlns:p14="http://schemas.microsoft.com/office/powerpoint/2010/main" val="28210660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7FD5B-10AB-F825-6620-A734AD24D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platzhalter 1">
            <a:extLst>
              <a:ext uri="{FF2B5EF4-FFF2-40B4-BE49-F238E27FC236}">
                <a16:creationId xmlns:a16="http://schemas.microsoft.com/office/drawing/2014/main" id="{03D2FA06-702C-146F-E3FD-7387FFA241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8C72716-128D-2C32-96C2-9B93C46D883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E3F71070-E19F-204B-E43C-8129EC7E2B6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09C0068E-1BBB-DBB5-3E7C-D2DB168CEE1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extplatzhalter 5">
            <a:extLst>
              <a:ext uri="{FF2B5EF4-FFF2-40B4-BE49-F238E27FC236}">
                <a16:creationId xmlns:a16="http://schemas.microsoft.com/office/drawing/2014/main" id="{05398D55-6143-6F7F-5026-13948A14141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Textplatzhalter 6">
            <a:extLst>
              <a:ext uri="{FF2B5EF4-FFF2-40B4-BE49-F238E27FC236}">
                <a16:creationId xmlns:a16="http://schemas.microsoft.com/office/drawing/2014/main" id="{4AF71A9D-341A-BB99-6B66-85239FAB97FD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2E39FEE0-5560-15BC-6FED-604D2FC9EA1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Textplatzhalter 8">
            <a:extLst>
              <a:ext uri="{FF2B5EF4-FFF2-40B4-BE49-F238E27FC236}">
                <a16:creationId xmlns:a16="http://schemas.microsoft.com/office/drawing/2014/main" id="{EBCDB4BE-F4A5-A363-5E66-9A6CF457A0B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" name="Textplatzhalter 9">
            <a:extLst>
              <a:ext uri="{FF2B5EF4-FFF2-40B4-BE49-F238E27FC236}">
                <a16:creationId xmlns:a16="http://schemas.microsoft.com/office/drawing/2014/main" id="{108E8E27-D099-E998-2405-A0D8523A08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11" name="Textplatzhalter 10">
            <a:extLst>
              <a:ext uri="{FF2B5EF4-FFF2-40B4-BE49-F238E27FC236}">
                <a16:creationId xmlns:a16="http://schemas.microsoft.com/office/drawing/2014/main" id="{47F1A4A7-3012-BDC8-BF97-90668813226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platzhalter 11">
            <a:extLst>
              <a:ext uri="{FF2B5EF4-FFF2-40B4-BE49-F238E27FC236}">
                <a16:creationId xmlns:a16="http://schemas.microsoft.com/office/drawing/2014/main" id="{741EEA70-AB51-297D-77A5-01E599CECA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Textplatzhalter 12">
            <a:extLst>
              <a:ext uri="{FF2B5EF4-FFF2-40B4-BE49-F238E27FC236}">
                <a16:creationId xmlns:a16="http://schemas.microsoft.com/office/drawing/2014/main" id="{17A6EA7A-F5A3-BCA9-2E13-28860634A71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567940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3131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yearfmt&gt;&lt;begin val=&quot;0&quot;/&gt;&lt;end val=&quot;4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larity Map" id="{F1DCE8EC-0A42-5A46-9AE6-867E2F0F83D3}" vid="{6F0C4F00-7A3C-AF4C-88E8-9A10DE101EE9}"/>
    </a:ext>
  </a:extLst>
</a:theme>
</file>

<file path=ppt/theme/theme2.xml><?xml version="1.0" encoding="utf-8"?>
<a:theme xmlns:a="http://schemas.openxmlformats.org/drawingml/2006/main" name="1_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olarity Map" id="{F1DCE8EC-0A42-5A46-9AE6-867E2F0F83D3}" vid="{6F0C4F00-7A3C-AF4C-88E8-9A10DE101EE9}"/>
    </a:ext>
  </a:extLst>
</a:theme>
</file>

<file path=ppt/theme/theme3.xml><?xml version="1.0" encoding="utf-8"?>
<a:theme xmlns:a="http://schemas.openxmlformats.org/drawingml/2006/main" name="Office">
  <a:themeElements>
    <a:clrScheme name="Benutzerdefiniert 101">
      <a:dk1>
        <a:sysClr val="windowText" lastClr="000000"/>
      </a:dk1>
      <a:lt1>
        <a:sysClr val="window" lastClr="FFFFFF"/>
      </a:lt1>
      <a:dk2>
        <a:srgbClr val="764C61"/>
      </a:dk2>
      <a:lt2>
        <a:srgbClr val="FBE500"/>
      </a:lt2>
      <a:accent1>
        <a:srgbClr val="A4BC39"/>
      </a:accent1>
      <a:accent2>
        <a:srgbClr val="FF8A00"/>
      </a:accent2>
      <a:accent3>
        <a:srgbClr val="3288BD"/>
      </a:accent3>
      <a:accent4>
        <a:srgbClr val="286763"/>
      </a:accent4>
      <a:accent5>
        <a:srgbClr val="E93D7B"/>
      </a:accent5>
      <a:accent6>
        <a:srgbClr val="FF4534"/>
      </a:accent6>
      <a:hlink>
        <a:srgbClr val="C00000"/>
      </a:hlink>
      <a:folHlink>
        <a:srgbClr val="1D1B10"/>
      </a:folHlink>
    </a:clrScheme>
    <a:fontScheme name="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">
  <a:themeElements>
    <a:clrScheme name="Benutzerdefiniert 101">
      <a:dk1>
        <a:sysClr val="windowText" lastClr="000000"/>
      </a:dk1>
      <a:lt1>
        <a:sysClr val="window" lastClr="FFFFFF"/>
      </a:lt1>
      <a:dk2>
        <a:srgbClr val="764C61"/>
      </a:dk2>
      <a:lt2>
        <a:srgbClr val="FBE500"/>
      </a:lt2>
      <a:accent1>
        <a:srgbClr val="A4BC39"/>
      </a:accent1>
      <a:accent2>
        <a:srgbClr val="FF8A00"/>
      </a:accent2>
      <a:accent3>
        <a:srgbClr val="3288BD"/>
      </a:accent3>
      <a:accent4>
        <a:srgbClr val="286763"/>
      </a:accent4>
      <a:accent5>
        <a:srgbClr val="E93D7B"/>
      </a:accent5>
      <a:accent6>
        <a:srgbClr val="FF4534"/>
      </a:accent6>
      <a:hlink>
        <a:srgbClr val="C00000"/>
      </a:hlink>
      <a:folHlink>
        <a:srgbClr val="1D1B10"/>
      </a:folHlink>
    </a:clrScheme>
    <a:fontScheme name="_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CAD2DA40B50D7B4296E107ED54861C11" ma:contentTypeVersion="10" ma:contentTypeDescription="Ein neues Dokument erstellen." ma:contentTypeScope="" ma:versionID="0cf6365f1461275636adc08cc8c2bda2">
  <xsd:schema xmlns:xsd="http://www.w3.org/2001/XMLSchema" xmlns:xs="http://www.w3.org/2001/XMLSchema" xmlns:p="http://schemas.microsoft.com/office/2006/metadata/properties" xmlns:ns3="2f440e52-afa7-4eff-abb3-aac605e6c0f8" xmlns:ns4="0957cc03-33fa-46d1-a827-606688540605" targetNamespace="http://schemas.microsoft.com/office/2006/metadata/properties" ma:root="true" ma:fieldsID="8925479bb59cfd4738bd52ff79264e5d" ns3:_="" ns4:_="">
    <xsd:import namespace="2f440e52-afa7-4eff-abb3-aac605e6c0f8"/>
    <xsd:import namespace="0957cc03-33fa-46d1-a827-60668854060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440e52-afa7-4eff-abb3-aac605e6c0f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57cc03-33fa-46d1-a827-60668854060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Freigabehinweis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9469E2C-04AB-447F-A0F8-7F1D2C3A936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440e52-afa7-4eff-abb3-aac605e6c0f8"/>
    <ds:schemaRef ds:uri="0957cc03-33fa-46d1-a827-6066885406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D2238F00-6598-42FB-ACDF-E1325E27867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FF9BA82-9E46-4CCB-9AB0-02D700E142CA}">
  <ds:schemaRefs>
    <ds:schemaRef ds:uri="http://schemas.microsoft.com/office/infopath/2007/PartnerControls"/>
    <ds:schemaRef ds:uri="http://www.w3.org/XML/1998/namespace"/>
    <ds:schemaRef ds:uri="http://purl.org/dc/terms/"/>
    <ds:schemaRef ds:uri="2f440e52-afa7-4eff-abb3-aac605e6c0f8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openxmlformats.org/package/2006/metadata/core-properties"/>
    <ds:schemaRef ds:uri="0957cc03-33fa-46d1-a827-606688540605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Folienvorlage_osb_PowerPoint_16x9_mit_Platzhaltern_200422</Template>
  <TotalTime>0</TotalTime>
  <Words>1</Words>
  <Application>Microsoft Office PowerPoint</Application>
  <PresentationFormat>Breitbild</PresentationFormat>
  <Paragraphs>1</Paragraphs>
  <Slides>1</Slides>
  <Notes>1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2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Arial Narrow</vt:lpstr>
      <vt:lpstr>Times New Roman</vt:lpstr>
      <vt:lpstr>Office</vt:lpstr>
      <vt:lpstr>1_Office</vt:lpstr>
      <vt:lpstr>think-cell Folie</vt:lpstr>
      <vt:lpstr>PowerPoint-Präsentation</vt:lpstr>
    </vt:vector>
  </TitlesOfParts>
  <Company>osb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Change</dc:title>
  <dc:creator>abe</dc:creator>
  <cp:lastModifiedBy>Shervin Schumacher</cp:lastModifiedBy>
  <cp:revision>1694</cp:revision>
  <cp:lastPrinted>2023-06-05T11:31:13Z</cp:lastPrinted>
  <dcterms:created xsi:type="dcterms:W3CDTF">2020-05-26T10:23:24Z</dcterms:created>
  <dcterms:modified xsi:type="dcterms:W3CDTF">2026-03-15T21:05:19Z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0x010100CAD2DA40B50D7B4296E107ED54861C11</vt:lpwstr>
  </property>
</Properties>
</file>